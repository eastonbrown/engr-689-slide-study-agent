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0398fe545e4729" /><Relationship Type="http://schemas.openxmlformats.org/officeDocument/2006/relationships/extended-properties" Target="/docProps/app.xml" Id="Re76331bc5662401d" /><Relationship Type="http://schemas.openxmlformats.org/officeDocument/2006/relationships/officeDocument" Target="/ppt/presentation.xml" Id="R1a9dbca96acc41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8ec51ce75b46a0"/>
  </p:sldMasterIdLst>
  <p:notesMasterIdLst>
    <p:notesMasterId xmlns:r="http://schemas.openxmlformats.org/officeDocument/2006/relationships" r:id="Rf2aaad320518438a"/>
  </p:notesMasterIdLst>
  <p:sldIdLst>
    <p:sldId xmlns:r="http://schemas.openxmlformats.org/officeDocument/2006/relationships" id="256" r:id="Rf8b5f255f702460b"/>
    <p:sldId xmlns:r="http://schemas.openxmlformats.org/officeDocument/2006/relationships" id="257" r:id="R13ca4878ed1b418b"/>
    <p:sldId xmlns:r="http://schemas.openxmlformats.org/officeDocument/2006/relationships" id="258" r:id="R99d3c2d652e943d0"/>
    <p:sldId xmlns:r="http://schemas.openxmlformats.org/officeDocument/2006/relationships" id="259" r:id="R6d91a1b8db184c29"/>
    <p:sldId xmlns:r="http://schemas.openxmlformats.org/officeDocument/2006/relationships" id="260" r:id="Rf1bbfc17f9964b5a"/>
    <p:sldId xmlns:r="http://schemas.openxmlformats.org/officeDocument/2006/relationships" id="261" r:id="R097e2f8f7b3a4020"/>
    <p:sldId xmlns:r="http://schemas.openxmlformats.org/officeDocument/2006/relationships" id="262" r:id="R750acfc755d744d9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f7be6c17a34f97" /><Relationship Type="http://schemas.openxmlformats.org/officeDocument/2006/relationships/slideMaster" Target="/ppt/slideMasters/slideMaster1.xml" Id="Ra78ec51ce75b46a0" /><Relationship Type="http://schemas.openxmlformats.org/officeDocument/2006/relationships/notesMaster" Target="/ppt/notesMasters/notesMaster1.xml" Id="Rf2aaad320518438a" /><Relationship Type="http://schemas.openxmlformats.org/officeDocument/2006/relationships/presProps" Target="/ppt/presProps.xml" Id="R40eb5c1d4cf84291" /><Relationship Type="http://schemas.openxmlformats.org/officeDocument/2006/relationships/viewProps" Target="/ppt/viewProps.xml" Id="Rb80859853d944778" /><Relationship Type="http://schemas.openxmlformats.org/officeDocument/2006/relationships/tableStyles" Target="/ppt/tableStyles.xml" Id="Rd857aa5915f642c2" /><Relationship Type="http://schemas.openxmlformats.org/officeDocument/2006/relationships/slide" Target="/ppt/slides/slide1.xml" Id="Rf8b5f255f702460b" /><Relationship Type="http://schemas.openxmlformats.org/officeDocument/2006/relationships/slide" Target="/ppt/slides/slide2.xml" Id="R13ca4878ed1b418b" /><Relationship Type="http://schemas.openxmlformats.org/officeDocument/2006/relationships/slide" Target="/ppt/slides/slide3.xml" Id="R99d3c2d652e943d0" /><Relationship Type="http://schemas.openxmlformats.org/officeDocument/2006/relationships/slide" Target="/ppt/slides/slide4.xml" Id="R6d91a1b8db184c29" /><Relationship Type="http://schemas.openxmlformats.org/officeDocument/2006/relationships/slide" Target="/ppt/slides/slide5.xml" Id="Rf1bbfc17f9964b5a" /><Relationship Type="http://schemas.openxmlformats.org/officeDocument/2006/relationships/slide" Target="/ppt/slides/slide6.xml" Id="R097e2f8f7b3a4020" /><Relationship Type="http://schemas.openxmlformats.org/officeDocument/2006/relationships/slide" Target="/ppt/slides/slide7.xml" Id="R750acfc755d744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f447264a1144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726c264c4b4b9f" /><Relationship Type="http://schemas.openxmlformats.org/officeDocument/2006/relationships/notesMaster" Target="/ppt/notesMasters/notesMaster1.xml" Id="R385d65e214544f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94a54c2b9648de" /><Relationship Type="http://schemas.openxmlformats.org/officeDocument/2006/relationships/notesMaster" Target="/ppt/notesMasters/notesMaster1.xml" Id="R3641428c6f9741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e99a83ad454425" /><Relationship Type="http://schemas.openxmlformats.org/officeDocument/2006/relationships/notesMaster" Target="/ppt/notesMasters/notesMaster1.xml" Id="R98fbfca0bc684c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bddf261e004b58" /><Relationship Type="http://schemas.openxmlformats.org/officeDocument/2006/relationships/notesMaster" Target="/ppt/notesMasters/notesMaster1.xml" Id="Ra57c0f7438834b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dc14ad174c483b" /><Relationship Type="http://schemas.openxmlformats.org/officeDocument/2006/relationships/notesMaster" Target="/ppt/notesMasters/notesMaster1.xml" Id="R725f70fc8d7f41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4fd83008b44068" /><Relationship Type="http://schemas.openxmlformats.org/officeDocument/2006/relationships/notesMaster" Target="/ppt/notesMasters/notesMaster1.xml" Id="R6b5cdac269b14f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ec1ff63e554dfc" /><Relationship Type="http://schemas.openxmlformats.org/officeDocument/2006/relationships/notesMaster" Target="/ppt/notesMasters/notesMaster1.xml" Id="R65ddce2fcc2e4f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Opening: this project turns lecture slide PDFs into cited study material and adaptive quiz practice.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README.md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CONTEXT.md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Replace [Your Name] with the presenter or team name before presenting.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docs/Mini-Project Presentation (ENGR 689 F26).pptx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README.md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Describe the user story: a student uploads a lecture PDF and gets review material, quiz practice, grading, and later retakes.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README.md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CONTEXT.md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docs/spec.md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Explain the labeled figure-only facts: sensors/actuators, CLIP encoder dominance, and generation versus retrieval.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README.md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eval/figure-only-facts.json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data/course/slides/Day3 Principle.pdf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Emphasize that the repo is honest about status: the architecture is specified, and core scaffolding has landed.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docs/spec.md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src/study_agent/schemas.py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src/study_agent/render.py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src/study_agent/paths.py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src/study_agent/config.py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tests/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most important demo moment is the side-by-side comparison: generation composes concepts while retrieval returns nearest existing images.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docs/spec.md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eval/results.md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eval/figure-only-facts.json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data/course/slides/Day3 Principle.pdf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Close by naming the practical next step: produce the golden Day 3 run, then use the UI to replay it in class.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README.md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CONTEXT.md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docs/spec.md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docs/adr/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e133c1c6bc4dd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c9544d9c054e8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cdb2d3a7e04f4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5fcab92bc3453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2edc50abd547c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04005111914b6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d9f8f960b7439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2ee619675e456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31ae7d5fe74c6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b5f16783d7434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d1cca234ea4b0b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53A3165C-09FE-45C8-929F-BDEA57E4269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>
            <a:endParaRPr/>
          </a:p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30B94000-CC34-4264-B683-C50753E00AB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>
            <a:endParaRPr/>
          </a:p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94C15AC1-E17C-4948-956A-9C418A03AD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CF90748F-F518-489A-ADB0-780CF574E7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>
            <a:endParaRPr/>
          </a:p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91354CC1-29E1-4BC8-8611-C4EAB9E514B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6BFC5EA2-A7BA-431D-8982-B32C9CDA2C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F217BDE5-60D9-4062-9C28-193DF9EFAF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84CEEF7F-D830-406E-8D42-26F4910F80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53216698-7A1A-4DB8-9901-24C6053F56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A952A945-F8D3-4404-A7E2-D045D87777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>
            <a:endParaRPr/>
          </a:p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BF5B0BAC-4404-460A-8338-31032A2D52D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>
            <a:endParaRPr/>
          </a:p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E459DBC9-8A0D-4373-A282-E1BBC32726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9B01C3D5-D3BE-4C79-A294-C10C9799C1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04429325-99AD-4AA0-83C7-373330616A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7F0232E8-90EE-4532-A007-5A7301125D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>
            <a:endParaRPr/>
          </a:p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F52B5958-77EA-433A-B620-AFEE5EBFB6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>
            <a:endParaRPr/>
          </a:p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1731EB46-6B13-4B9E-B588-C026B8495D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8FBDD08C-A4FA-42B2-8869-FA758DE0B5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endParaRPr/>
          </a:p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C80420F4-FB46-4564-B8FE-2942871611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4E77EEA4-38C6-4E24-9CF2-173FAA85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818D3987-05F0-46FE-9678-FAD68C88CC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>
            <a:endParaRPr/>
          </a:p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D482FC6A-A4DD-4DFF-82CF-85C2606ED38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>
            <a:endParaRPr/>
          </a:p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1F8455BE-8DB0-4429-96F2-B73BD7DFB76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3E213080-C0AA-46D5-B983-F7E73B86B0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514B9991-8D1A-4586-A57C-A9582ED803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8C67852C-A83B-4E1F-A825-E20AF24839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07D9A246-4878-4089-BCE7-4DA04110037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6B1FF3ED-C882-4775-8AA7-CB59FF8129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B0DF227C-C6CB-4C12-87D5-93E0F0DB77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3B394C4C-4CBD-4F76-B858-99D08B39A7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6c2e6aba7a4b5c" /><Relationship Type="http://schemas.openxmlformats.org/officeDocument/2006/relationships/slideLayout" Target="/ppt/slideLayouts/slideLayout1.xml" Id="R69ad457a088a45d0" /><Relationship Type="http://schemas.openxmlformats.org/officeDocument/2006/relationships/slideLayout" Target="/ppt/slideLayouts/slideLayout2.xml" Id="Ra6327d1ce1764a95" /><Relationship Type="http://schemas.openxmlformats.org/officeDocument/2006/relationships/slideLayout" Target="/ppt/slideLayouts/slideLayout3.xml" Id="R724a9f200fb8400a" /><Relationship Type="http://schemas.openxmlformats.org/officeDocument/2006/relationships/slideLayout" Target="/ppt/slideLayouts/slideLayout4.xml" Id="R5ff88bfb83ed4ba7" /><Relationship Type="http://schemas.openxmlformats.org/officeDocument/2006/relationships/slideLayout" Target="/ppt/slideLayouts/slideLayout5.xml" Id="Rc3acde376af44838" /><Relationship Type="http://schemas.openxmlformats.org/officeDocument/2006/relationships/slideLayout" Target="/ppt/slideLayouts/slideLayout6.xml" Id="Rb4f45ca2f91f4474" /><Relationship Type="http://schemas.openxmlformats.org/officeDocument/2006/relationships/slideLayout" Target="/ppt/slideLayouts/slideLayout7.xml" Id="R7d0098da7072486c" /><Relationship Type="http://schemas.openxmlformats.org/officeDocument/2006/relationships/slideLayout" Target="/ppt/slideLayouts/slideLayout8.xml" Id="Rafbd783c6ab04ff5" /><Relationship Type="http://schemas.openxmlformats.org/officeDocument/2006/relationships/slideLayout" Target="/ppt/slideLayouts/slideLayout9.xml" Id="R2a28dcf1eeab4e37" /><Relationship Type="http://schemas.openxmlformats.org/officeDocument/2006/relationships/slideLayout" Target="/ppt/slideLayouts/slideLayout10.xml" Id="Ra7c3f22f46c64384" /><Relationship Type="http://schemas.openxmlformats.org/officeDocument/2006/relationships/slideLayout" Target="/ppt/slideLayouts/slideLayout11.xml" Id="R6dfbe1e4d5a94eb8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6EF70F97-C56E-4BD8-B917-029E0CF1B6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5955D56A-EF46-455B-A3FD-8DA979F2EC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24C06E9B-B833-4450-BAF6-70B69471D5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ad457a088a45d0"/>
    <p:sldLayoutId xmlns:r="http://schemas.openxmlformats.org/officeDocument/2006/relationships" id="2147483650" r:id="Ra6327d1ce1764a95"/>
    <p:sldLayoutId xmlns:r="http://schemas.openxmlformats.org/officeDocument/2006/relationships" id="2147483651" r:id="R724a9f200fb8400a"/>
    <p:sldLayoutId xmlns:r="http://schemas.openxmlformats.org/officeDocument/2006/relationships" id="2147483652" r:id="R5ff88bfb83ed4ba7"/>
    <p:sldLayoutId xmlns:r="http://schemas.openxmlformats.org/officeDocument/2006/relationships" id="2147483653" r:id="Rc3acde376af44838"/>
    <p:sldLayoutId xmlns:r="http://schemas.openxmlformats.org/officeDocument/2006/relationships" id="2147483654" r:id="Rb4f45ca2f91f4474"/>
    <p:sldLayoutId xmlns:r="http://schemas.openxmlformats.org/officeDocument/2006/relationships" id="2147483655" r:id="R7d0098da7072486c"/>
    <p:sldLayoutId xmlns:r="http://schemas.openxmlformats.org/officeDocument/2006/relationships" id="2147483656" r:id="Rafbd783c6ab04ff5"/>
    <p:sldLayoutId xmlns:r="http://schemas.openxmlformats.org/officeDocument/2006/relationships" id="2147483657" r:id="R2a28dcf1eeab4e37"/>
    <p:sldLayoutId xmlns:r="http://schemas.openxmlformats.org/officeDocument/2006/relationships" id="2147483658" r:id="Ra7c3f22f46c64384"/>
    <p:sldLayoutId xmlns:r="http://schemas.openxmlformats.org/officeDocument/2006/relationships" id="2147483659" r:id="R6dfbe1e4d5a94eb8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07441d35c04a44" /><Relationship Type="http://schemas.openxmlformats.org/officeDocument/2006/relationships/notesSlide" Target="/ppt/notesSlides/notesSlide1.xml" Id="Rb374006ba15a4b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ca36f3619b4dba" /><Relationship Type="http://schemas.openxmlformats.org/officeDocument/2006/relationships/notesSlide" Target="/ppt/notesSlides/notesSlide2.xml" Id="Ra061fcc81c4649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bbf64c907f54096" /><Relationship Type="http://schemas.openxmlformats.org/officeDocument/2006/relationships/notesSlide" Target="/ppt/notesSlides/notesSlide3.xml" Id="Rd7117035c8b644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d6d5a6e61724462" /><Relationship Type="http://schemas.openxmlformats.org/officeDocument/2006/relationships/image" Target="/ppt/media/image.png" Id="Rdacb180bd0da4664" /><Relationship Type="http://schemas.openxmlformats.org/officeDocument/2006/relationships/image" Target="/ppt/media/image2.png" Id="R352388cde14740ef" /><Relationship Type="http://schemas.openxmlformats.org/officeDocument/2006/relationships/image" Target="/ppt/media/image3.png" Id="R1e57f76887ac4042" /><Relationship Type="http://schemas.openxmlformats.org/officeDocument/2006/relationships/notesSlide" Target="/ppt/notesSlides/notesSlide4.xml" Id="R02ec82cd3e9443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db835c47d4c4859" /><Relationship Type="http://schemas.openxmlformats.org/officeDocument/2006/relationships/notesSlide" Target="/ppt/notesSlides/notesSlide5.xml" Id="Rd7387f09125c48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97f34a32bf94f6f" /><Relationship Type="http://schemas.openxmlformats.org/officeDocument/2006/relationships/image" Target="/ppt/media/image4.png" Id="Rcc2130b8cd4f4988" /><Relationship Type="http://schemas.openxmlformats.org/officeDocument/2006/relationships/image" Target="/ppt/media/image5.png" Id="R46c638ae52134940" /><Relationship Type="http://schemas.openxmlformats.org/officeDocument/2006/relationships/notesSlide" Target="/ppt/notesSlides/notesSlide6.xml" Id="Ra818a8752e4348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62d8f42e79c4216" /><Relationship Type="http://schemas.openxmlformats.org/officeDocument/2006/relationships/notesSlide" Target="/ppt/notesSlides/notesSlide7.xml" Id="R7c2f434102e24a7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13">
            <a:extLst xmlns:a="http://schemas.openxmlformats.org/drawingml/2006/main">
              <a:ext uri="{FF2B5EF4-FFF2-40B4-BE49-F238E27FC236}">
                <a16:creationId xmlns:a16="http://schemas.microsoft.com/office/drawing/2014/main" id="{5BB0569A-C587-4370-AAA7-00E7B037A6F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0" y="744575"/>
            <a:ext cx="8520600" cy="182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 sz="2850">
                <a:solidFill>
                  <a:srgbClr val="111827"/>
                </a:solidFill>
              </a:defRPr>
            </a:pPr>
            <a:r>
              <a:rPr sz="2850">
                <a:solidFill>
                  <a:srgbClr val="111827"/>
                </a:solidFill>
              </a:rPr>
              <a:t>Slide Deck to Study Guide Agent</a:t>
            </a:r>
            <a:endParaRPr sz="4500"/>
          </a:p>
        </p:txBody>
      </p:sp>
      <p:sp>
        <p:nvSpPr>
          <p:cNvPr id="55" name="Google Shape;55;p13">
            <a:extLst xmlns:a="http://schemas.openxmlformats.org/drawingml/2006/main">
              <a:ext uri="{FF2B5EF4-FFF2-40B4-BE49-F238E27FC236}">
                <a16:creationId xmlns:a16="http://schemas.microsoft.com/office/drawing/2014/main" id="{FE093EC8-171F-4C7A-B043-D6760D2A566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98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75">
                <a:solidFill>
                  <a:srgbClr val="5B6472"/>
                </a:solidFill>
              </a:defRPr>
            </a:pPr>
            <a:r>
              <a:rPr sz="1575">
                <a:solidFill>
                  <a:srgbClr val="5B6472"/>
                </a:solidFill>
              </a:rPr>
              <a:t>ENGR 689 Multimodal LLM Agents</a:t>
            </a:r>
            <a:endParaRPr sz="2100"/>
          </a:p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75">
                <a:solidFill>
                  <a:srgbClr val="5B6472"/>
                </a:solidFill>
              </a:defRPr>
            </a:pPr>
            <a:r>
              <a:rPr sz="1575">
                <a:solidFill>
                  <a:srgbClr val="5B6472"/>
                </a:solidFill>
              </a:rPr>
              <a:t>Mini-Project Presentation</a:t>
            </a:r>
            <a:endParaRPr sz="2100"/>
          </a:p>
        </p:txBody>
      </p:sp>
    </p:spTree>
    <p:extLst>
      <p:ext uri="{BB962C8B-B14F-4D97-AF65-F5344CB8AC3E}">
        <p14:creationId xmlns:p14="http://schemas.microsoft.com/office/powerpoint/2010/main" val="142074061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Google Shape;65;p15">
            <a:extLst xmlns:a="http://schemas.openxmlformats.org/drawingml/2006/main">
              <a:ext uri="{FF2B5EF4-FFF2-40B4-BE49-F238E27FC236}">
                <a16:creationId xmlns:a16="http://schemas.microsoft.com/office/drawing/2014/main" id="{A1D0AD72-AAFC-4CAD-B512-66FBE2B50C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0" y="744575"/>
            <a:ext cx="8520600" cy="182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111827"/>
                </a:solidFill>
              </a:defRPr>
            </a:pPr>
            <a:r>
              <a:rPr sz="3000">
                <a:solidFill>
                  <a:srgbClr val="111827"/>
                </a:solidFill>
              </a:rPr>
              <a:t>Slide Deck to Study Guide Agent</a:t>
            </a:r>
            <a:endParaRPr sz="4500"/>
          </a:p>
        </p:txBody>
      </p:sp>
      <p:sp>
        <p:nvSpPr>
          <p:cNvPr id="66" name="Google Shape;66;p15">
            <a:extLst xmlns:a="http://schemas.openxmlformats.org/drawingml/2006/main">
              <a:ext uri="{FF2B5EF4-FFF2-40B4-BE49-F238E27FC236}">
                <a16:creationId xmlns:a16="http://schemas.microsoft.com/office/drawing/2014/main" id="{AF938194-3E17-4F2F-8AF6-7A75941CF5C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98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5B6472"/>
                </a:solidFill>
              </a:defRPr>
            </a:pPr>
            <a:r>
              <a:rPr sz="1500">
                <a:solidFill>
                  <a:srgbClr val="5B6472"/>
                </a:solidFill>
              </a:rPr>
              <a:t>Prepared by: [Your Name]</a:t>
            </a:r>
            <a:endParaRPr sz="2100"/>
          </a:p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5B6472"/>
                </a:solidFill>
              </a:defRPr>
            </a:pPr>
            <a:r>
              <a:rPr sz="1500">
                <a:solidFill>
                  <a:srgbClr val="5B6472"/>
                </a:solidFill>
              </a:rPr>
              <a:t>For ENGR 689 mini-project presentation</a:t>
            </a:r>
            <a:endParaRPr sz="2100"/>
          </a:p>
        </p:txBody>
      </p:sp>
    </p:spTree>
    <p:extLst>
      <p:ext uri="{BB962C8B-B14F-4D97-AF65-F5344CB8AC3E}">
        <p14:creationId xmlns:p14="http://schemas.microsoft.com/office/powerpoint/2010/main" val="2516608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Google Shape;71;p16">
            <a:extLst xmlns:a="http://schemas.openxmlformats.org/drawingml/2006/main">
              <a:ext uri="{FF2B5EF4-FFF2-40B4-BE49-F238E27FC236}">
                <a16:creationId xmlns:a16="http://schemas.microsoft.com/office/drawing/2014/main" id="{0E03E39E-E69B-48BC-BE42-788C867907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111827"/>
                </a:solidFill>
              </a:defRPr>
            </a:pPr>
            <a:r>
              <a:rPr sz="2100">
                <a:solidFill>
                  <a:srgbClr val="111827"/>
                </a:solidFill>
              </a:rPr>
              <a:t>Project description and goal</a:t>
            </a:r>
            <a:endParaRPr/>
          </a:p>
        </p:txBody>
      </p:sp>
      <p:sp>
        <p:nvSpPr>
          <p:cNvPr id="72" name="Google Shape;72;p16">
            <a:extLst xmlns:a="http://schemas.openxmlformats.org/drawingml/2006/main">
              <a:ext uri="{FF2B5EF4-FFF2-40B4-BE49-F238E27FC236}">
                <a16:creationId xmlns:a16="http://schemas.microsoft.com/office/drawing/2014/main" id="{7D5C127D-7339-4443-8A05-F3C920D495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00050" y="1104900"/>
            <a:ext cx="8286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35439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1200"/>
              </a:spcAft>
              <a:buNone/>
              <a:defRPr sz="1350">
                <a:solidFill>
                  <a:srgbClr val="5B6472"/>
                </a:solidFill>
              </a:defRPr>
            </a:pPr>
            <a:r>
              <a:rPr sz="1350">
                <a:solidFill>
                  <a:srgbClr val="5B6472"/>
                </a:solidFill>
              </a:rPr>
              <a:t>Goal: turn one lecture deck into a cited lesson review plus a quiz the student can retake.</a:t>
            </a:r>
            <a:endParaRPr/>
          </a:p>
        </p:txBody>
      </p:sp>
      <p:sp>
        <p:nvSpPr>
          <p:cNvPr id="73" name="s3-stage-0">
            <a:extLst xmlns:a="http://schemas.openxmlformats.org/drawingml/2006/main">
              <a:ext uri="{FF2B5EF4-FFF2-40B4-BE49-F238E27FC236}">
                <a16:creationId xmlns:a16="http://schemas.microsoft.com/office/drawing/2014/main" id="{56F07885-81EA-447E-AFBA-ABF15899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66900"/>
            <a:ext cx="16954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4" name="s3-stage-title-0">
            <a:extLst xmlns:a="http://schemas.openxmlformats.org/drawingml/2006/main">
              <a:ext uri="{FF2B5EF4-FFF2-40B4-BE49-F238E27FC236}">
                <a16:creationId xmlns:a16="http://schemas.microsoft.com/office/drawing/2014/main" id="{6AD3A979-8566-4A1D-81B8-1428EFFB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Lecture PDF</a:t>
            </a:r>
          </a:p>
        </p:txBody>
      </p:sp>
      <p:sp>
        <p:nvSpPr>
          <p:cNvPr id="75" name="s3-stage-body-0">
            <a:extLst xmlns:a="http://schemas.openxmlformats.org/drawingml/2006/main">
              <a:ext uri="{FF2B5EF4-FFF2-40B4-BE49-F238E27FC236}">
                <a16:creationId xmlns:a16="http://schemas.microsoft.com/office/drawing/2014/main" id="{1F25B25A-9B22-4105-9329-F59CBAE2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38400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B6472"/>
                </a:solidFill>
              </a:defRPr>
            </a:pPr>
            <a:r>
              <a:rPr sz="1050">
                <a:solidFill>
                  <a:srgbClr val="5B6472"/>
                </a:solidFill>
              </a:rPr>
              <a:t>render each page</a:t>
            </a:r>
          </a:p>
        </p:txBody>
      </p:sp>
      <p:sp>
        <p:nvSpPr>
          <p:cNvPr id="76" name="s3-arrow-0">
            <a:extLst xmlns:a="http://schemas.openxmlformats.org/drawingml/2006/main">
              <a:ext uri="{FF2B5EF4-FFF2-40B4-BE49-F238E27FC236}">
                <a16:creationId xmlns:a16="http://schemas.microsoft.com/office/drawing/2014/main" id="{A66EB393-D209-4584-B0AE-C0D0BBEC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3431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5EFF"/>
                </a:solidFill>
              </a:defRPr>
            </a:pPr>
            <a:r>
              <a:rPr sz="1650" b="1">
                <a:solidFill>
                  <a:srgbClr val="1F5EFF"/>
                </a:solidFill>
              </a:rPr>
              <a:t>-&gt;</a:t>
            </a:r>
          </a:p>
        </p:txBody>
      </p:sp>
      <p:sp>
        <p:nvSpPr>
          <p:cNvPr id="77" name="s3-stage-1">
            <a:extLst xmlns:a="http://schemas.openxmlformats.org/drawingml/2006/main">
              <a:ext uri="{FF2B5EF4-FFF2-40B4-BE49-F238E27FC236}">
                <a16:creationId xmlns:a16="http://schemas.microsoft.com/office/drawing/2014/main" id="{D20FAA6B-80F0-4234-8271-AAB4797E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1866900"/>
            <a:ext cx="16954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7F4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8" name="s3-stage-title-1">
            <a:extLst xmlns:a="http://schemas.openxmlformats.org/drawingml/2006/main">
              <a:ext uri="{FF2B5EF4-FFF2-40B4-BE49-F238E27FC236}">
                <a16:creationId xmlns:a16="http://schemas.microsoft.com/office/drawing/2014/main" id="{6453BE44-3EB3-4AE1-B25D-49320DCE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383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Slide notes</a:t>
            </a:r>
          </a:p>
        </p:txBody>
      </p:sp>
      <p:sp>
        <p:nvSpPr>
          <p:cNvPr id="79" name="s3-stage-body-1">
            <a:extLst xmlns:a="http://schemas.openxmlformats.org/drawingml/2006/main">
              <a:ext uri="{FF2B5EF4-FFF2-40B4-BE49-F238E27FC236}">
                <a16:creationId xmlns:a16="http://schemas.microsoft.com/office/drawing/2014/main" id="{E4F6334A-8ABB-41EA-88BF-6BB0C2E6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438400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B6472"/>
                </a:solidFill>
              </a:defRPr>
            </a:pPr>
            <a:r>
              <a:rPr sz="1050">
                <a:solidFill>
                  <a:srgbClr val="5B6472"/>
                </a:solidFill>
              </a:rPr>
              <a:t>read prose and visuals</a:t>
            </a:r>
          </a:p>
        </p:txBody>
      </p:sp>
      <p:sp>
        <p:nvSpPr>
          <p:cNvPr id="80" name="s3-arrow-1">
            <a:extLst xmlns:a="http://schemas.openxmlformats.org/drawingml/2006/main">
              <a:ext uri="{FF2B5EF4-FFF2-40B4-BE49-F238E27FC236}">
                <a16:creationId xmlns:a16="http://schemas.microsoft.com/office/drawing/2014/main" id="{5CA580C5-9FF9-4F4C-AAE4-C1E8BEDC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431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5EFF"/>
                </a:solidFill>
              </a:defRPr>
            </a:pPr>
            <a:r>
              <a:rPr sz="1650" b="1">
                <a:solidFill>
                  <a:srgbClr val="1F5EFF"/>
                </a:solidFill>
              </a:rPr>
              <a:t>-&gt;</a:t>
            </a:r>
          </a:p>
        </p:txBody>
      </p:sp>
      <p:sp>
        <p:nvSpPr>
          <p:cNvPr id="81" name="s3-stage-2">
            <a:extLst xmlns:a="http://schemas.openxmlformats.org/drawingml/2006/main">
              <a:ext uri="{FF2B5EF4-FFF2-40B4-BE49-F238E27FC236}">
                <a16:creationId xmlns:a16="http://schemas.microsoft.com/office/drawing/2014/main" id="{E470ABC3-4714-48E3-97D8-7E1A9BEE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66900"/>
            <a:ext cx="16954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4E2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2" name="s3-stage-title-2">
            <a:extLst xmlns:a="http://schemas.openxmlformats.org/drawingml/2006/main">
              <a:ext uri="{FF2B5EF4-FFF2-40B4-BE49-F238E27FC236}">
                <a16:creationId xmlns:a16="http://schemas.microsoft.com/office/drawing/2014/main" id="{12B0EBF2-EF2D-491E-BC0C-20056EF7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383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Lesson review</a:t>
            </a:r>
          </a:p>
        </p:txBody>
      </p:sp>
      <p:sp>
        <p:nvSpPr>
          <p:cNvPr id="83" name="s3-stage-body-2">
            <a:extLst xmlns:a="http://schemas.openxmlformats.org/drawingml/2006/main">
              <a:ext uri="{FF2B5EF4-FFF2-40B4-BE49-F238E27FC236}">
                <a16:creationId xmlns:a16="http://schemas.microsoft.com/office/drawing/2014/main" id="{66A3DC93-A221-4C9D-90F9-5B2E871B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38400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B6472"/>
                </a:solidFill>
              </a:defRPr>
            </a:pPr>
            <a:r>
              <a:rPr sz="1050">
                <a:solidFill>
                  <a:srgbClr val="5B6472"/>
                </a:solidFill>
              </a:rPr>
              <a:t>explain with slide citations</a:t>
            </a:r>
          </a:p>
        </p:txBody>
      </p:sp>
      <p:sp>
        <p:nvSpPr>
          <p:cNvPr id="84" name="s3-arrow-2">
            <a:extLst xmlns:a="http://schemas.openxmlformats.org/drawingml/2006/main">
              <a:ext uri="{FF2B5EF4-FFF2-40B4-BE49-F238E27FC236}">
                <a16:creationId xmlns:a16="http://schemas.microsoft.com/office/drawing/2014/main" id="{80F4CA93-A216-4B78-9B0B-F0A6D78A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431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5EFF"/>
                </a:solidFill>
              </a:defRPr>
            </a:pPr>
            <a:r>
              <a:rPr sz="1650" b="1">
                <a:solidFill>
                  <a:srgbClr val="1F5EFF"/>
                </a:solidFill>
              </a:rPr>
              <a:t>-&gt;</a:t>
            </a:r>
          </a:p>
        </p:txBody>
      </p:sp>
      <p:sp>
        <p:nvSpPr>
          <p:cNvPr id="85" name="s3-stage-3">
            <a:extLst xmlns:a="http://schemas.openxmlformats.org/drawingml/2006/main">
              <a:ext uri="{FF2B5EF4-FFF2-40B4-BE49-F238E27FC236}">
                <a16:creationId xmlns:a16="http://schemas.microsoft.com/office/drawing/2014/main" id="{E61BC360-B14B-4289-81C0-F9F93210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866900"/>
            <a:ext cx="16954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3F0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6" name="s3-stage-title-3">
            <a:extLst xmlns:a="http://schemas.openxmlformats.org/drawingml/2006/main">
              <a:ext uri="{FF2B5EF4-FFF2-40B4-BE49-F238E27FC236}">
                <a16:creationId xmlns:a16="http://schemas.microsoft.com/office/drawing/2014/main" id="{35CBBA05-97A2-493E-969D-C8D80CA5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0383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Knowledge check</a:t>
            </a:r>
          </a:p>
        </p:txBody>
      </p:sp>
      <p:sp>
        <p:nvSpPr>
          <p:cNvPr id="87" name="s3-stage-body-3">
            <a:extLst xmlns:a="http://schemas.openxmlformats.org/drawingml/2006/main">
              <a:ext uri="{FF2B5EF4-FFF2-40B4-BE49-F238E27FC236}">
                <a16:creationId xmlns:a16="http://schemas.microsoft.com/office/drawing/2014/main" id="{4C7593B4-7C89-4F8E-AA34-FA299C48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438400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B6472"/>
                </a:solidFill>
              </a:defRPr>
            </a:pPr>
            <a:r>
              <a:rPr sz="1050">
                <a:solidFill>
                  <a:srgbClr val="5B6472"/>
                </a:solidFill>
              </a:rPr>
              <a:t>quiz, grade, and retake</a:t>
            </a:r>
          </a:p>
        </p:txBody>
      </p:sp>
      <p:sp>
        <p:nvSpPr>
          <p:cNvPr id="88" name="s3-bottom">
            <a:extLst xmlns:a="http://schemas.openxmlformats.org/drawingml/2006/main">
              <a:ext uri="{FF2B5EF4-FFF2-40B4-BE49-F238E27FC236}">
                <a16:creationId xmlns:a16="http://schemas.microsoft.com/office/drawing/2014/main" id="{FFE5AB09-C73F-4D91-BF51-D5A2E95D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81400"/>
            <a:ext cx="708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The important constraint: the image path must see the slide as a page image, not just extracted text.</a:t>
            </a:r>
          </a:p>
        </p:txBody>
      </p:sp>
    </p:spTree>
    <p:extLst>
      <p:ext uri="{BB962C8B-B14F-4D97-AF65-F5344CB8AC3E}">
        <p14:creationId xmlns:p14="http://schemas.microsoft.com/office/powerpoint/2010/main" val="211587821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Google Shape;77;p17">
            <a:extLst xmlns:a="http://schemas.openxmlformats.org/drawingml/2006/main">
              <a:ext uri="{FF2B5EF4-FFF2-40B4-BE49-F238E27FC236}">
                <a16:creationId xmlns:a16="http://schemas.microsoft.com/office/drawing/2014/main" id="{002C916C-5FD1-46C4-88A4-09BDDDB2DD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111827"/>
                </a:solidFill>
              </a:defRPr>
            </a:pPr>
            <a:r>
              <a:rPr sz="1950">
                <a:solidFill>
                  <a:srgbClr val="111827"/>
                </a:solidFill>
              </a:rPr>
              <a:t>Why this project matters: slides hide meaning in visuals</a:t>
            </a:r>
            <a:endParaRPr/>
          </a:p>
        </p:txBody>
      </p:sp>
      <p:sp>
        <p:nvSpPr>
          <p:cNvPr id="78" name="Google Shape;78;p17">
            <a:extLst xmlns:a="http://schemas.openxmlformats.org/drawingml/2006/main">
              <a:ext uri="{FF2B5EF4-FFF2-40B4-BE49-F238E27FC236}">
                <a16:creationId xmlns:a16="http://schemas.microsoft.com/office/drawing/2014/main" id="{FCEB9CB8-AE02-4854-8E6B-3BAE399286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00050" y="1066800"/>
            <a:ext cx="8286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35439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1200"/>
              </a:spcAft>
              <a:buNone/>
              <a:defRPr sz="1350">
                <a:solidFill>
                  <a:srgbClr val="5B6472"/>
                </a:solidFill>
              </a:defRPr>
            </a:pPr>
            <a:r>
              <a:rPr sz="1350">
                <a:solidFill>
                  <a:srgbClr val="5B6472"/>
                </a:solidFill>
              </a:rPr>
              <a:t>The project compares an image path against a text-only baseline because extraction misses figure content.</a:t>
            </a:r>
            <a:endParaRPr/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cb180bd0da4664"/>
          <a:srcRect xmlns:a="http://schemas.openxmlformats.org/drawingml/2006/main" l="484" t="0" r="48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1733550"/>
            <a:ext cx="2381250" cy="1352550"/>
          </a:xfrm>
          <a:prstGeom xmlns:a="http://schemas.openxmlformats.org/drawingml/2006/main" prst="roundRect">
            <a:avLst>
              <a:gd name="adj" fmla="val 5634"/>
            </a:avLst>
          </a:prstGeom>
        </p:spPr>
      </p:pic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2388cde14740ef"/>
          <a:srcRect xmlns:a="http://schemas.openxmlformats.org/drawingml/2006/main" l="484" t="0" r="48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81375" y="1733550"/>
            <a:ext cx="2381250" cy="1352550"/>
          </a:xfrm>
          <a:prstGeom xmlns:a="http://schemas.openxmlformats.org/drawingml/2006/main" prst="roundRect">
            <a:avLst>
              <a:gd name="adj" fmla="val 5634"/>
            </a:avLst>
          </a:prstGeom>
        </p:spPr>
      </p:pic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7f76887ac4042"/>
          <a:srcRect xmlns:a="http://schemas.openxmlformats.org/drawingml/2006/main" l="484" t="0" r="48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1733550"/>
            <a:ext cx="2381250" cy="1352550"/>
          </a:xfrm>
          <a:prstGeom xmlns:a="http://schemas.openxmlformats.org/drawingml/2006/main" prst="roundRect">
            <a:avLst>
              <a:gd name="adj" fmla="val 5634"/>
            </a:avLst>
          </a:prstGeom>
        </p:spPr>
      </p:pic>
      <p:sp>
        <p:nvSpPr>
          <p:cNvPr id="82" name="label-figure definition">
            <a:extLst xmlns:a="http://schemas.openxmlformats.org/drawingml/2006/main">
              <a:ext uri="{FF2B5EF4-FFF2-40B4-BE49-F238E27FC236}">
                <a16:creationId xmlns:a16="http://schemas.microsoft.com/office/drawing/2014/main" id="{DA950B3C-B591-44C1-AB39-257D82E4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1809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EEF4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</a:defRPr>
            </a:pPr>
            <a:r>
              <a:rPr sz="975" b="1">
                <a:solidFill>
                  <a:srgbClr val="111827"/>
                </a:solidFill>
              </a:rPr>
              <a:t>figure definition</a:t>
            </a:r>
          </a:p>
        </p:txBody>
      </p:sp>
      <p:sp>
        <p:nvSpPr>
          <p:cNvPr id="83" name="label-bar heights">
            <a:extLst xmlns:a="http://schemas.openxmlformats.org/drawingml/2006/main">
              <a:ext uri="{FF2B5EF4-FFF2-40B4-BE49-F238E27FC236}">
                <a16:creationId xmlns:a16="http://schemas.microsoft.com/office/drawing/2014/main" id="{7AE4065B-085F-4A4F-9CD8-DC8D9AB4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00400"/>
            <a:ext cx="1809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7F4"/>
          </a:solidFill>
          <a:ln xmlns:a="http://schemas.openxmlformats.org/drawingml/2006/main" w="9525">
            <a:solidFill>
              <a:srgbClr val="EAF7F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</a:defRPr>
            </a:pPr>
            <a:r>
              <a:rPr sz="975" b="1">
                <a:solidFill>
                  <a:srgbClr val="111827"/>
                </a:solidFill>
              </a:rPr>
              <a:t>bar heights</a:t>
            </a:r>
          </a:p>
        </p:txBody>
      </p:sp>
      <p:sp>
        <p:nvSpPr>
          <p:cNvPr id="84" name="label-image comparison">
            <a:extLst xmlns:a="http://schemas.openxmlformats.org/drawingml/2006/main">
              <a:ext uri="{FF2B5EF4-FFF2-40B4-BE49-F238E27FC236}">
                <a16:creationId xmlns:a16="http://schemas.microsoft.com/office/drawing/2014/main" id="{13D2E6E3-B5B6-4F82-9E62-F357E22A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00400"/>
            <a:ext cx="1809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4E2"/>
          </a:solidFill>
          <a:ln xmlns:a="http://schemas.openxmlformats.org/drawingml/2006/main" w="9525">
            <a:solidFill>
              <a:srgbClr val="FFF4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</a:defRPr>
            </a:pPr>
            <a:r>
              <a:rPr sz="975" b="1">
                <a:solidFill>
                  <a:srgbClr val="111827"/>
                </a:solidFill>
              </a:rPr>
              <a:t>image comparison</a:t>
            </a:r>
          </a:p>
        </p:txBody>
      </p:sp>
      <p:sp>
        <p:nvSpPr>
          <p:cNvPr id="85" name="s4-claim">
            <a:extLst xmlns:a="http://schemas.openxmlformats.org/drawingml/2006/main">
              <a:ext uri="{FF2B5EF4-FFF2-40B4-BE49-F238E27FC236}">
                <a16:creationId xmlns:a16="http://schemas.microsoft.com/office/drawing/2014/main" id="{0C5E6081-BD00-4CE3-80E7-301C48A8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62375"/>
            <a:ext cx="716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These are not decorative examples; each one carries a fact that ordinary PDF text extraction can lose.</a:t>
            </a:r>
          </a:p>
        </p:txBody>
      </p:sp>
    </p:spTree>
    <p:extLst>
      <p:ext uri="{BB962C8B-B14F-4D97-AF65-F5344CB8AC3E}">
        <p14:creationId xmlns:p14="http://schemas.microsoft.com/office/powerpoint/2010/main" val="108697277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p18">
            <a:extLst xmlns:a="http://schemas.openxmlformats.org/drawingml/2006/main">
              <a:ext uri="{FF2B5EF4-FFF2-40B4-BE49-F238E27FC236}">
                <a16:creationId xmlns:a16="http://schemas.microsoft.com/office/drawing/2014/main" id="{5E9C87B6-D531-48A6-8347-84686AC26E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111827"/>
                </a:solidFill>
              </a:defRPr>
            </a:pPr>
            <a:r>
              <a:rPr sz="2100">
                <a:solidFill>
                  <a:srgbClr val="111827"/>
                </a:solidFill>
              </a:rPr>
              <a:t>How do we build this application</a:t>
            </a:r>
            <a:endParaRPr/>
          </a:p>
        </p:txBody>
      </p:sp>
      <p:sp>
        <p:nvSpPr>
          <p:cNvPr id="84" name="Google Shape;84;p18">
            <a:extLst xmlns:a="http://schemas.openxmlformats.org/drawingml/2006/main">
              <a:ext uri="{FF2B5EF4-FFF2-40B4-BE49-F238E27FC236}">
                <a16:creationId xmlns:a16="http://schemas.microsoft.com/office/drawing/2014/main" id="{7B5E22A6-8178-4DBF-B3BF-C8B1A16932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00050" y="1066800"/>
            <a:ext cx="8286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35439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1200"/>
              </a:spcAft>
              <a:buNone/>
              <a:defRPr sz="1350">
                <a:solidFill>
                  <a:srgbClr val="5B6472"/>
                </a:solidFill>
              </a:defRPr>
            </a:pPr>
            <a:r>
              <a:rPr sz="1350">
                <a:solidFill>
                  <a:srgbClr val="5B6472"/>
                </a:solidFill>
              </a:rPr>
              <a:t>Implementation is staged so each boundary writes auditable artifacts before the next model call reads them.</a:t>
            </a:r>
            <a:endParaRPr/>
          </a:p>
        </p:txBody>
      </p:sp>
      <p:sp>
        <p:nvSpPr>
          <p:cNvPr id="85" name="s5-stage-0">
            <a:extLst xmlns:a="http://schemas.openxmlformats.org/drawingml/2006/main">
              <a:ext uri="{FF2B5EF4-FFF2-40B4-BE49-F238E27FC236}">
                <a16:creationId xmlns:a16="http://schemas.microsoft.com/office/drawing/2014/main" id="{2FD8AE52-31B0-4ED3-A9B4-9CCFF404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695450"/>
            <a:ext cx="9906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6" name="s5-stage-text-0">
            <a:extLst xmlns:a="http://schemas.openxmlformats.org/drawingml/2006/main">
              <a:ext uri="{FF2B5EF4-FFF2-40B4-BE49-F238E27FC236}">
                <a16:creationId xmlns:a16="http://schemas.microsoft.com/office/drawing/2014/main" id="{DE4C7F70-2016-4508-9E36-2FA1FCFC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88595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Render</a:t>
            </a:r>
          </a:p>
        </p:txBody>
      </p:sp>
      <p:sp>
        <p:nvSpPr>
          <p:cNvPr id="87" name="s5-arrow-0">
            <a:extLst xmlns:a="http://schemas.openxmlformats.org/drawingml/2006/main">
              <a:ext uri="{FF2B5EF4-FFF2-40B4-BE49-F238E27FC236}">
                <a16:creationId xmlns:a16="http://schemas.microsoft.com/office/drawing/2014/main" id="{DFBD80C7-B6F0-43A3-9F14-2276A771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8764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5EFF"/>
                </a:solidFill>
              </a:defRPr>
            </a:pPr>
            <a:r>
              <a:rPr sz="1200" b="1">
                <a:solidFill>
                  <a:srgbClr val="1F5EFF"/>
                </a:solidFill>
              </a:rPr>
              <a:t>-&gt;</a:t>
            </a:r>
          </a:p>
        </p:txBody>
      </p:sp>
      <p:sp>
        <p:nvSpPr>
          <p:cNvPr id="88" name="s5-stage-1">
            <a:extLst xmlns:a="http://schemas.openxmlformats.org/drawingml/2006/main">
              <a:ext uri="{FF2B5EF4-FFF2-40B4-BE49-F238E27FC236}">
                <a16:creationId xmlns:a16="http://schemas.microsoft.com/office/drawing/2014/main" id="{F268936D-E56F-4E94-9974-C9FFE82D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1695450"/>
            <a:ext cx="9906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7F4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9" name="s5-stage-text-1">
            <a:extLst xmlns:a="http://schemas.openxmlformats.org/drawingml/2006/main">
              <a:ext uri="{FF2B5EF4-FFF2-40B4-BE49-F238E27FC236}">
                <a16:creationId xmlns:a16="http://schemas.microsoft.com/office/drawing/2014/main" id="{4170A97F-9EFE-4095-8C34-E69A0801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88595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Read pages</a:t>
            </a:r>
          </a:p>
        </p:txBody>
      </p:sp>
      <p:sp>
        <p:nvSpPr>
          <p:cNvPr id="90" name="s5-arrow-1">
            <a:extLst xmlns:a="http://schemas.openxmlformats.org/drawingml/2006/main">
              <a:ext uri="{FF2B5EF4-FFF2-40B4-BE49-F238E27FC236}">
                <a16:creationId xmlns:a16="http://schemas.microsoft.com/office/drawing/2014/main" id="{21D486D6-0F8A-4948-83DD-724702D6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8764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5EFF"/>
                </a:solidFill>
              </a:defRPr>
            </a:pPr>
            <a:r>
              <a:rPr sz="1200" b="1">
                <a:solidFill>
                  <a:srgbClr val="1F5EFF"/>
                </a:solidFill>
              </a:rPr>
              <a:t>-&gt;</a:t>
            </a:r>
          </a:p>
        </p:txBody>
      </p:sp>
      <p:sp>
        <p:nvSpPr>
          <p:cNvPr id="91" name="s5-stage-2">
            <a:extLst xmlns:a="http://schemas.openxmlformats.org/drawingml/2006/main">
              <a:ext uri="{FF2B5EF4-FFF2-40B4-BE49-F238E27FC236}">
                <a16:creationId xmlns:a16="http://schemas.microsoft.com/office/drawing/2014/main" id="{E61B74EC-D12B-4412-902C-72729972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695450"/>
            <a:ext cx="9906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4E2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2" name="s5-stage-text-2">
            <a:extLst xmlns:a="http://schemas.openxmlformats.org/drawingml/2006/main">
              <a:ext uri="{FF2B5EF4-FFF2-40B4-BE49-F238E27FC236}">
                <a16:creationId xmlns:a16="http://schemas.microsoft.com/office/drawing/2014/main" id="{25888E18-6AD5-485C-8975-2B2A4818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88595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Outline</a:t>
            </a:r>
          </a:p>
        </p:txBody>
      </p:sp>
      <p:sp>
        <p:nvSpPr>
          <p:cNvPr id="93" name="s5-arrow-2">
            <a:extLst xmlns:a="http://schemas.openxmlformats.org/drawingml/2006/main">
              <a:ext uri="{FF2B5EF4-FFF2-40B4-BE49-F238E27FC236}">
                <a16:creationId xmlns:a16="http://schemas.microsoft.com/office/drawing/2014/main" id="{65719CD1-C577-4CEE-BDAE-DAF972B2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8764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5EFF"/>
                </a:solidFill>
              </a:defRPr>
            </a:pPr>
            <a:r>
              <a:rPr sz="1200" b="1">
                <a:solidFill>
                  <a:srgbClr val="1F5EFF"/>
                </a:solidFill>
              </a:rPr>
              <a:t>-&gt;</a:t>
            </a:r>
          </a:p>
        </p:txBody>
      </p:sp>
      <p:sp>
        <p:nvSpPr>
          <p:cNvPr id="94" name="s5-stage-3">
            <a:extLst xmlns:a="http://schemas.openxmlformats.org/drawingml/2006/main">
              <a:ext uri="{FF2B5EF4-FFF2-40B4-BE49-F238E27FC236}">
                <a16:creationId xmlns:a16="http://schemas.microsoft.com/office/drawing/2014/main" id="{AFD40695-9914-4B6E-856E-15B6AAF4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695450"/>
            <a:ext cx="9906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5" name="s5-stage-text-3">
            <a:extLst xmlns:a="http://schemas.openxmlformats.org/drawingml/2006/main">
              <a:ext uri="{FF2B5EF4-FFF2-40B4-BE49-F238E27FC236}">
                <a16:creationId xmlns:a16="http://schemas.microsoft.com/office/drawing/2014/main" id="{7D696044-FC98-4815-AD31-645E0F0A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88595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Research</a:t>
            </a:r>
          </a:p>
        </p:txBody>
      </p:sp>
      <p:sp>
        <p:nvSpPr>
          <p:cNvPr id="96" name="s5-arrow-3">
            <a:extLst xmlns:a="http://schemas.openxmlformats.org/drawingml/2006/main">
              <a:ext uri="{FF2B5EF4-FFF2-40B4-BE49-F238E27FC236}">
                <a16:creationId xmlns:a16="http://schemas.microsoft.com/office/drawing/2014/main" id="{CDAF4A93-D11F-4415-83A6-3D39813C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8764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5EFF"/>
                </a:solidFill>
              </a:defRPr>
            </a:pPr>
            <a:r>
              <a:rPr sz="1200" b="1">
                <a:solidFill>
                  <a:srgbClr val="1F5EFF"/>
                </a:solidFill>
              </a:rPr>
              <a:t>-&gt;</a:t>
            </a:r>
          </a:p>
        </p:txBody>
      </p:sp>
      <p:sp>
        <p:nvSpPr>
          <p:cNvPr id="97" name="s5-stage-4">
            <a:extLst xmlns:a="http://schemas.openxmlformats.org/drawingml/2006/main">
              <a:ext uri="{FF2B5EF4-FFF2-40B4-BE49-F238E27FC236}">
                <a16:creationId xmlns:a16="http://schemas.microsoft.com/office/drawing/2014/main" id="{15D25EDB-54E4-4BE2-8CE1-A5DE56B9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695450"/>
            <a:ext cx="9906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7F4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8" name="s5-stage-text-4">
            <a:extLst xmlns:a="http://schemas.openxmlformats.org/drawingml/2006/main">
              <a:ext uri="{FF2B5EF4-FFF2-40B4-BE49-F238E27FC236}">
                <a16:creationId xmlns:a16="http://schemas.microsoft.com/office/drawing/2014/main" id="{F45668C8-2BFA-4600-AD1E-82477DC5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88595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Review</a:t>
            </a:r>
          </a:p>
        </p:txBody>
      </p:sp>
      <p:sp>
        <p:nvSpPr>
          <p:cNvPr id="99" name="s5-arrow-4">
            <a:extLst xmlns:a="http://schemas.openxmlformats.org/drawingml/2006/main">
              <a:ext uri="{FF2B5EF4-FFF2-40B4-BE49-F238E27FC236}">
                <a16:creationId xmlns:a16="http://schemas.microsoft.com/office/drawing/2014/main" id="{CCB87D72-8A71-48A1-9A7A-FD8D37C4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8764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5EFF"/>
                </a:solidFill>
              </a:defRPr>
            </a:pPr>
            <a:r>
              <a:rPr sz="1200" b="1">
                <a:solidFill>
                  <a:srgbClr val="1F5EFF"/>
                </a:solidFill>
              </a:rPr>
              <a:t>-&gt;</a:t>
            </a:r>
          </a:p>
        </p:txBody>
      </p:sp>
      <p:sp>
        <p:nvSpPr>
          <p:cNvPr id="100" name="s5-stage-5">
            <a:extLst xmlns:a="http://schemas.openxmlformats.org/drawingml/2006/main">
              <a:ext uri="{FF2B5EF4-FFF2-40B4-BE49-F238E27FC236}">
                <a16:creationId xmlns:a16="http://schemas.microsoft.com/office/drawing/2014/main" id="{BCA7D0AA-701C-4181-8445-548F3988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95450"/>
            <a:ext cx="9906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4E2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1" name="s5-stage-text-5">
            <a:extLst xmlns:a="http://schemas.openxmlformats.org/drawingml/2006/main">
              <a:ext uri="{FF2B5EF4-FFF2-40B4-BE49-F238E27FC236}">
                <a16:creationId xmlns:a16="http://schemas.microsoft.com/office/drawing/2014/main" id="{CFC994AE-FBBC-45B5-A450-8BB3A7BF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88595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Quiz</a:t>
            </a:r>
          </a:p>
        </p:txBody>
      </p:sp>
      <p:sp>
        <p:nvSpPr>
          <p:cNvPr id="102" name="s5-arrow-5">
            <a:extLst xmlns:a="http://schemas.openxmlformats.org/drawingml/2006/main">
              <a:ext uri="{FF2B5EF4-FFF2-40B4-BE49-F238E27FC236}">
                <a16:creationId xmlns:a16="http://schemas.microsoft.com/office/drawing/2014/main" id="{9D4C5556-378E-4C4D-A102-B798704F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18764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5EFF"/>
                </a:solidFill>
              </a:defRPr>
            </a:pPr>
            <a:r>
              <a:rPr sz="1200" b="1">
                <a:solidFill>
                  <a:srgbClr val="1F5EFF"/>
                </a:solidFill>
              </a:rPr>
              <a:t>-&gt;</a:t>
            </a:r>
          </a:p>
        </p:txBody>
      </p:sp>
      <p:sp>
        <p:nvSpPr>
          <p:cNvPr id="103" name="s5-stage-6">
            <a:extLst xmlns:a="http://schemas.openxmlformats.org/drawingml/2006/main">
              <a:ext uri="{FF2B5EF4-FFF2-40B4-BE49-F238E27FC236}">
                <a16:creationId xmlns:a16="http://schemas.microsoft.com/office/drawing/2014/main" id="{F9F9502C-71CB-4D09-9695-6F5CBCBE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1695450"/>
            <a:ext cx="9906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4" name="s5-stage-text-6">
            <a:extLst xmlns:a="http://schemas.openxmlformats.org/drawingml/2006/main">
              <a:ext uri="{FF2B5EF4-FFF2-40B4-BE49-F238E27FC236}">
                <a16:creationId xmlns:a16="http://schemas.microsoft.com/office/drawing/2014/main" id="{E371770C-40AE-4B15-B530-A13371D3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88595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Memory</a:t>
            </a:r>
          </a:p>
        </p:txBody>
      </p:sp>
      <p:sp>
        <p:nvSpPr>
          <p:cNvPr id="105" name="s5-left">
            <a:extLst xmlns:a="http://schemas.openxmlformats.org/drawingml/2006/main">
              <a:ext uri="{FF2B5EF4-FFF2-40B4-BE49-F238E27FC236}">
                <a16:creationId xmlns:a16="http://schemas.microsoft.com/office/drawing/2014/main" id="{4E49808E-2A4F-4B7C-BD34-BF9393BA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35433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6" name="s5-left-title">
            <a:extLst xmlns:a="http://schemas.openxmlformats.org/drawingml/2006/main">
              <a:ext uri="{FF2B5EF4-FFF2-40B4-BE49-F238E27FC236}">
                <a16:creationId xmlns:a16="http://schemas.microsoft.com/office/drawing/2014/main" id="{CD52A7E4-AC53-4D5B-9BCB-5CCEDBCE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9D8A"/>
                </a:solidFill>
              </a:defRPr>
            </a:pPr>
            <a:r>
              <a:rPr sz="1350" b="1">
                <a:solidFill>
                  <a:srgbClr val="1F9D8A"/>
                </a:solidFill>
              </a:rPr>
              <a:t>Currently implemented</a:t>
            </a:r>
          </a:p>
        </p:txBody>
      </p:sp>
      <p:sp>
        <p:nvSpPr>
          <p:cNvPr id="107" name="s5-left-body">
            <a:extLst xmlns:a="http://schemas.openxmlformats.org/drawingml/2006/main">
              <a:ext uri="{FF2B5EF4-FFF2-40B4-BE49-F238E27FC236}">
                <a16:creationId xmlns:a16="http://schemas.microsoft.com/office/drawing/2014/main" id="{68559D02-2657-400E-A213-E13286AA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3124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827"/>
                </a:solidFill>
              </a:defRPr>
            </a:pPr>
            <a:r>
              <a:rPr sz="1050">
                <a:solidFill>
                  <a:srgbClr val="111827"/>
                </a:solidFill>
              </a:rPr>
              <a:t>- Strict Pydantic data schemas</a:t>
            </a:r>
          </a:p>
          <a:p xmlns:a="http://schemas.openxmlformats.org/drawingml/2006/main">
            <a:pPr>
              <a:defRPr sz="1050">
                <a:solidFill>
                  <a:srgbClr val="111827"/>
                </a:solidFill>
              </a:defRPr>
            </a:pPr>
            <a:r>
              <a:rPr sz="1050">
                <a:solidFill>
                  <a:srgbClr val="111827"/>
                </a:solidFill>
              </a:rPr>
              <a:t>- PDF render and preflight stage</a:t>
            </a:r>
          </a:p>
          <a:p xmlns:a="http://schemas.openxmlformats.org/drawingml/2006/main">
            <a:pPr>
              <a:defRPr sz="1050">
                <a:solidFill>
                  <a:srgbClr val="111827"/>
                </a:solidFill>
              </a:defRPr>
            </a:pPr>
            <a:r>
              <a:rPr sz="1050">
                <a:solidFill>
                  <a:srgbClr val="111827"/>
                </a:solidFill>
              </a:rPr>
              <a:t>- Run/memory path helpers</a:t>
            </a:r>
          </a:p>
          <a:p xmlns:a="http://schemas.openxmlformats.org/drawingml/2006/main">
            <a:pPr>
              <a:defRPr sz="1050">
                <a:solidFill>
                  <a:srgbClr val="111827"/>
                </a:solidFill>
              </a:defRPr>
            </a:pPr>
            <a:r>
              <a:rPr sz="1050">
                <a:solidFill>
                  <a:srgbClr val="111827"/>
                </a:solidFill>
              </a:rPr>
              <a:t>- Tests for schemas, paths, render, config</a:t>
            </a:r>
          </a:p>
        </p:txBody>
      </p:sp>
      <p:sp>
        <p:nvSpPr>
          <p:cNvPr id="108" name="s5-right">
            <a:extLst xmlns:a="http://schemas.openxmlformats.org/drawingml/2006/main">
              <a:ext uri="{FF2B5EF4-FFF2-40B4-BE49-F238E27FC236}">
                <a16:creationId xmlns:a16="http://schemas.microsoft.com/office/drawing/2014/main" id="{0405B19E-7367-440B-AF52-6346D0A2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14650"/>
            <a:ext cx="35433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8E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9" name="s5-right-title">
            <a:extLst xmlns:a="http://schemas.openxmlformats.org/drawingml/2006/main">
              <a:ext uri="{FF2B5EF4-FFF2-40B4-BE49-F238E27FC236}">
                <a16:creationId xmlns:a16="http://schemas.microsoft.com/office/drawing/2014/main" id="{4E2D1FA0-EF1A-44D6-9495-7F847C65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670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47A19"/>
                </a:solidFill>
              </a:defRPr>
            </a:pPr>
            <a:r>
              <a:rPr sz="1350" b="1">
                <a:solidFill>
                  <a:srgbClr val="C47A19"/>
                </a:solidFill>
              </a:rPr>
              <a:t>Next implementation stages</a:t>
            </a:r>
          </a:p>
        </p:txBody>
      </p:sp>
      <p:sp>
        <p:nvSpPr>
          <p:cNvPr id="110" name="s5-right-body">
            <a:extLst xmlns:a="http://schemas.openxmlformats.org/drawingml/2006/main">
              <a:ext uri="{FF2B5EF4-FFF2-40B4-BE49-F238E27FC236}">
                <a16:creationId xmlns:a16="http://schemas.microsoft.com/office/drawing/2014/main" id="{E22C5296-8812-40B1-9F85-1E0EF042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371850"/>
            <a:ext cx="3124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827"/>
                </a:solidFill>
              </a:defRPr>
            </a:pPr>
            <a:r>
              <a:rPr sz="1050">
                <a:solidFill>
                  <a:srgbClr val="111827"/>
                </a:solidFill>
              </a:rPr>
              <a:t>- Vision page reader and text baseline</a:t>
            </a:r>
          </a:p>
          <a:p xmlns:a="http://schemas.openxmlformats.org/drawingml/2006/main">
            <a:pPr>
              <a:defRPr sz="1050">
                <a:solidFill>
                  <a:srgbClr val="111827"/>
                </a:solidFill>
              </a:defRPr>
            </a:pPr>
            <a:r>
              <a:rPr sz="1050">
                <a:solidFill>
                  <a:srgbClr val="111827"/>
                </a:solidFill>
              </a:rPr>
              <a:t>- Outline, research, review writer</a:t>
            </a:r>
          </a:p>
          <a:p xmlns:a="http://schemas.openxmlformats.org/drawingml/2006/main">
            <a:pPr>
              <a:defRPr sz="1050">
                <a:solidFill>
                  <a:srgbClr val="111827"/>
                </a:solidFill>
              </a:defRPr>
            </a:pPr>
            <a:r>
              <a:rPr sz="1050">
                <a:solidFill>
                  <a:srgbClr val="111827"/>
                </a:solidFill>
              </a:rPr>
              <a:t>- Quiz, grader, topic memory, replay UI</a:t>
            </a:r>
          </a:p>
        </p:txBody>
      </p:sp>
    </p:spTree>
    <p:extLst>
      <p:ext uri="{BB962C8B-B14F-4D97-AF65-F5344CB8AC3E}">
        <p14:creationId xmlns:p14="http://schemas.microsoft.com/office/powerpoint/2010/main" val="183577591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Google Shape;89;p19">
            <a:extLst xmlns:a="http://schemas.openxmlformats.org/drawingml/2006/main">
              <a:ext uri="{FF2B5EF4-FFF2-40B4-BE49-F238E27FC236}">
                <a16:creationId xmlns:a16="http://schemas.microsoft.com/office/drawing/2014/main" id="{B945D019-FF6D-4B03-B815-D9B2752F59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111827"/>
                </a:solidFill>
              </a:defRPr>
            </a:pPr>
            <a:r>
              <a:rPr sz="2100">
                <a:solidFill>
                  <a:srgbClr val="111827"/>
                </a:solidFill>
              </a:rPr>
              <a:t>Demo and evaluation</a:t>
            </a:r>
            <a:endParaRPr/>
          </a:p>
        </p:txBody>
      </p:sp>
      <p:sp>
        <p:nvSpPr>
          <p:cNvPr id="90" name="Google Shape;90;p19">
            <a:extLst xmlns:a="http://schemas.openxmlformats.org/drawingml/2006/main">
              <a:ext uri="{FF2B5EF4-FFF2-40B4-BE49-F238E27FC236}">
                <a16:creationId xmlns:a16="http://schemas.microsoft.com/office/drawing/2014/main" id="{7FDECBAF-2146-498D-8DF7-5035CC8026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00050" y="1066800"/>
            <a:ext cx="8286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59594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1200"/>
              </a:spcAft>
              <a:buNone/>
              <a:defRPr sz="1350">
                <a:solidFill>
                  <a:srgbClr val="5B6472"/>
                </a:solidFill>
              </a:defRPr>
            </a:pPr>
            <a:r>
              <a:rPr sz="1350">
                <a:solidFill>
                  <a:srgbClr val="5B6472"/>
                </a:solidFill>
              </a:rPr>
              <a:t>The demo can replay a saved run; the evaluation asks whether visual facts survive into the agent's notes and quiz citations.</a:t>
            </a:r>
            <a:endParaRPr/>
          </a:p>
        </p:txBody>
      </p:sp>
      <p:sp>
        <p:nvSpPr>
          <p:cNvPr id="91" name="s6-demo">
            <a:extLst xmlns:a="http://schemas.openxmlformats.org/drawingml/2006/main">
              <a:ext uri="{FF2B5EF4-FFF2-40B4-BE49-F238E27FC236}">
                <a16:creationId xmlns:a16="http://schemas.microsoft.com/office/drawing/2014/main" id="{09648DE1-AB09-44C0-BF57-FF3DE3A7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33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2" name="s6-demo-title">
            <a:extLst xmlns:a="http://schemas.openxmlformats.org/drawingml/2006/main">
              <a:ext uri="{FF2B5EF4-FFF2-40B4-BE49-F238E27FC236}">
                <a16:creationId xmlns:a16="http://schemas.microsoft.com/office/drawing/2014/main" id="{8157D2FE-32B2-4C02-BFF4-A6916F07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5EFF"/>
                </a:solidFill>
              </a:defRPr>
            </a:pPr>
            <a:r>
              <a:rPr sz="1500" b="1">
                <a:solidFill>
                  <a:srgbClr val="1F5EFF"/>
                </a:solidFill>
              </a:rPr>
              <a:t>Demo flow</a:t>
            </a:r>
          </a:p>
        </p:txBody>
      </p:sp>
      <p:sp>
        <p:nvSpPr>
          <p:cNvPr id="93" name="s6-demo-body">
            <a:extLst xmlns:a="http://schemas.openxmlformats.org/drawingml/2006/main">
              <a:ext uri="{FF2B5EF4-FFF2-40B4-BE49-F238E27FC236}">
                <a16:creationId xmlns:a16="http://schemas.microsoft.com/office/drawing/2014/main" id="{34735BE5-2289-4E30-8AB5-97A4C92F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27051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</a:defRPr>
            </a:pPr>
            <a:r>
              <a:rPr sz="1200">
                <a:solidFill>
                  <a:srgbClr val="111827"/>
                </a:solidFill>
              </a:rPr>
              <a:t>1. Upload Day 3 lecture deck</a:t>
            </a:r>
          </a:p>
          <a:p xmlns:a="http://schemas.openxmlformats.org/drawingml/2006/main">
            <a:pPr>
              <a:defRPr sz="1200">
                <a:solidFill>
                  <a:srgbClr val="111827"/>
                </a:solidFill>
              </a:defRPr>
            </a:pPr>
            <a:r>
              <a:rPr sz="1200">
                <a:solidFill>
                  <a:srgbClr val="111827"/>
                </a:solidFill>
              </a:rPr>
              <a:t>2. Watch seven stage boxes complete</a:t>
            </a:r>
          </a:p>
          <a:p xmlns:a="http://schemas.openxmlformats.org/drawingml/2006/main">
            <a:pPr>
              <a:defRPr sz="1200">
                <a:solidFill>
                  <a:srgbClr val="111827"/>
                </a:solidFill>
              </a:defRPr>
            </a:pPr>
            <a:r>
              <a:rPr sz="1200">
                <a:solidFill>
                  <a:srgbClr val="111827"/>
                </a:solidFill>
              </a:rPr>
              <a:t>3. Compare image and text reviews</a:t>
            </a:r>
          </a:p>
          <a:p xmlns:a="http://schemas.openxmlformats.org/drawingml/2006/main">
            <a:pPr>
              <a:defRPr sz="1200">
                <a:solidFill>
                  <a:srgbClr val="111827"/>
                </a:solidFill>
              </a:defRPr>
            </a:pPr>
            <a:r>
              <a:rPr sz="1200">
                <a:solidFill>
                  <a:srgbClr val="111827"/>
                </a:solidFill>
              </a:rPr>
              <a:t>4. Take quiz and see topic rollup</a:t>
            </a:r>
          </a:p>
        </p:txBody>
      </p:sp>
      <p:sp>
        <p:nvSpPr>
          <p:cNvPr id="94" name="s6-eval">
            <a:extLst xmlns:a="http://schemas.openxmlformats.org/drawingml/2006/main">
              <a:ext uri="{FF2B5EF4-FFF2-40B4-BE49-F238E27FC236}">
                <a16:creationId xmlns:a16="http://schemas.microsoft.com/office/drawing/2014/main" id="{0C3E4D88-70C5-4698-8ED9-CA7FFCE9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09750"/>
            <a:ext cx="4000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AF7F4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5" name="s6-eval-title">
            <a:extLst xmlns:a="http://schemas.openxmlformats.org/drawingml/2006/main">
              <a:ext uri="{FF2B5EF4-FFF2-40B4-BE49-F238E27FC236}">
                <a16:creationId xmlns:a16="http://schemas.microsoft.com/office/drawing/2014/main" id="{9A5D2800-51C7-4833-83EE-5F62A3EB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812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9D8A"/>
                </a:solidFill>
              </a:defRPr>
            </a:pPr>
            <a:r>
              <a:rPr sz="1500" b="1">
                <a:solidFill>
                  <a:srgbClr val="1F9D8A"/>
                </a:solidFill>
              </a:rPr>
              <a:t>Evaluation plan</a:t>
            </a:r>
          </a:p>
        </p:txBody>
      </p:sp>
      <p:sp>
        <p:nvSpPr>
          <p:cNvPr id="96" name="s6-eval-body">
            <a:extLst xmlns:a="http://schemas.openxmlformats.org/drawingml/2006/main">
              <a:ext uri="{FF2B5EF4-FFF2-40B4-BE49-F238E27FC236}">
                <a16:creationId xmlns:a16="http://schemas.microsoft.com/office/drawing/2014/main" id="{F956E541-300C-4459-9703-4E0A3F46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81250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</a:defRPr>
            </a:pPr>
            <a:r>
              <a:rPr sz="1200">
                <a:solidFill>
                  <a:srgbClr val="111827"/>
                </a:solidFill>
              </a:rPr>
              <a:t>- Figure-only fact recovery: image vs. text</a:t>
            </a:r>
          </a:p>
          <a:p xmlns:a="http://schemas.openxmlformats.org/drawingml/2006/main">
            <a:pPr>
              <a:defRPr sz="1200">
                <a:solidFill>
                  <a:srgbClr val="111827"/>
                </a:solidFill>
              </a:defRPr>
            </a:pPr>
            <a:r>
              <a:rPr sz="1200">
                <a:solidFill>
                  <a:srgbClr val="111827"/>
                </a:solidFill>
              </a:rPr>
              <a:t>- Repeatability: 5 image re-reads per label</a:t>
            </a:r>
          </a:p>
          <a:p xmlns:a="http://schemas.openxmlformats.org/drawingml/2006/main">
            <a:pPr>
              <a:defRPr sz="1200">
                <a:solidFill>
                  <a:srgbClr val="111827"/>
                </a:solidFill>
              </a:defRPr>
            </a:pPr>
            <a:r>
              <a:rPr sz="1200">
                <a:solidFill>
                  <a:srgbClr val="111827"/>
                </a:solidFill>
              </a:rPr>
              <a:t>- Citation accuracy: quiz cites supported slides</a:t>
            </a:r>
          </a:p>
          <a:p xmlns:a="http://schemas.openxmlformats.org/drawingml/2006/main">
            <a:pPr>
              <a:defRPr sz="1200">
                <a:solidFill>
                  <a:srgbClr val="111827"/>
                </a:solidFill>
              </a:defRPr>
            </a:pPr>
            <a:r>
              <a:rPr sz="1200">
                <a:solidFill>
                  <a:srgbClr val="111827"/>
                </a:solidFill>
              </a:rPr>
              <a:t>- Known weak case reported separately</a:t>
            </a:r>
          </a:p>
        </p:txBody>
      </p:sp>
      <p:pic>
        <p:nvPicPr>
          <p:cNvPr id="1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2130b8cd4f4988"/>
          <a:srcRect xmlns:a="http://schemas.openxmlformats.org/drawingml/2006/main" l="267" t="0" r="2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52750" y="3886200"/>
            <a:ext cx="1381125" cy="781050"/>
          </a:xfrm>
          <a:prstGeom xmlns:a="http://schemas.openxmlformats.org/drawingml/2006/main" prst="roundRect">
            <a:avLst>
              <a:gd name="adj" fmla="val 9756"/>
            </a:avLst>
          </a:prstGeom>
        </p:spPr>
      </p:pic>
      <p:pic>
        <p:nvPicPr>
          <p:cNvPr id="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c638ae52134940"/>
          <a:srcRect xmlns:a="http://schemas.openxmlformats.org/drawingml/2006/main" l="267" t="0" r="2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19650" y="3886200"/>
            <a:ext cx="1381125" cy="781050"/>
          </a:xfrm>
          <a:prstGeom xmlns:a="http://schemas.openxmlformats.org/drawingml/2006/main" prst="roundRect">
            <a:avLst>
              <a:gd name="adj" fmla="val 9756"/>
            </a:avLst>
          </a:prstGeom>
        </p:spPr>
      </p:pic>
      <p:sp>
        <p:nvSpPr>
          <p:cNvPr id="99" name="s6-pair-arrow">
            <a:extLst xmlns:a="http://schemas.openxmlformats.org/drawingml/2006/main">
              <a:ext uri="{FF2B5EF4-FFF2-40B4-BE49-F238E27FC236}">
                <a16:creationId xmlns:a16="http://schemas.microsoft.com/office/drawing/2014/main" id="{54251E96-BBF8-4D1C-9D94-7E504C65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12432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47A19"/>
                </a:solidFill>
              </a:defRPr>
            </a:pPr>
            <a:r>
              <a:rPr sz="1125" b="1">
                <a:solidFill>
                  <a:srgbClr val="C47A19"/>
                </a:solidFill>
              </a:rPr>
              <a:t>bridged fact -&gt;</a:t>
            </a:r>
          </a:p>
        </p:txBody>
      </p:sp>
    </p:spTree>
    <p:extLst>
      <p:ext uri="{BB962C8B-B14F-4D97-AF65-F5344CB8AC3E}">
        <p14:creationId xmlns:p14="http://schemas.microsoft.com/office/powerpoint/2010/main" val="8965932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Google Shape;95;p20">
            <a:extLst xmlns:a="http://schemas.openxmlformats.org/drawingml/2006/main">
              <a:ext uri="{FF2B5EF4-FFF2-40B4-BE49-F238E27FC236}">
                <a16:creationId xmlns:a16="http://schemas.microsoft.com/office/drawing/2014/main" id="{526DF875-B60E-458D-B140-E440149842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111827"/>
                </a:solidFill>
              </a:defRPr>
            </a:pPr>
            <a:r>
              <a:rPr sz="1950">
                <a:solidFill>
                  <a:srgbClr val="111827"/>
                </a:solidFill>
              </a:rPr>
              <a:t>Conclusion, lessons learned, and future works</a:t>
            </a:r>
            <a:endParaRPr/>
          </a:p>
        </p:txBody>
      </p:sp>
      <p:sp>
        <p:nvSpPr>
          <p:cNvPr id="96" name="Google Shape;96;p20">
            <a:extLst xmlns:a="http://schemas.openxmlformats.org/drawingml/2006/main">
              <a:ext uri="{FF2B5EF4-FFF2-40B4-BE49-F238E27FC236}">
                <a16:creationId xmlns:a16="http://schemas.microsoft.com/office/drawing/2014/main" id="{A13E4E20-E601-4C8D-A271-7684CFD51C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00050" y="1066800"/>
            <a:ext cx="8286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59594"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1200"/>
              </a:spcAft>
              <a:buNone/>
              <a:defRPr sz="1350">
                <a:solidFill>
                  <a:srgbClr val="5B6472"/>
                </a:solidFill>
              </a:defRPr>
            </a:pPr>
            <a:r>
              <a:rPr sz="1350">
                <a:solidFill>
                  <a:srgbClr val="5B6472"/>
                </a:solidFill>
              </a:rPr>
              <a:t>Main takeaway: treating slides as visual pages makes the study agent more faithful to how course material actually teaches.</a:t>
            </a:r>
            <a:endParaRPr/>
          </a:p>
        </p:txBody>
      </p:sp>
      <p:sp>
        <p:nvSpPr>
          <p:cNvPr id="97" name="s7-col-0">
            <a:extLst xmlns:a="http://schemas.openxmlformats.org/drawingml/2006/main">
              <a:ext uri="{FF2B5EF4-FFF2-40B4-BE49-F238E27FC236}">
                <a16:creationId xmlns:a16="http://schemas.microsoft.com/office/drawing/2014/main" id="{03F252D4-600B-44C8-B9B3-A80F5C11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47850"/>
            <a:ext cx="24003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8" name="s7-col-title-0">
            <a:extLst xmlns:a="http://schemas.openxmlformats.org/drawingml/2006/main">
              <a:ext uri="{FF2B5EF4-FFF2-40B4-BE49-F238E27FC236}">
                <a16:creationId xmlns:a16="http://schemas.microsoft.com/office/drawing/2014/main" id="{61145A3F-C2B6-477F-B7C4-3E312E15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5EFF"/>
                </a:solidFill>
              </a:defRPr>
            </a:pPr>
            <a:r>
              <a:rPr sz="1350" b="1">
                <a:solidFill>
                  <a:srgbClr val="1F5EFF"/>
                </a:solidFill>
              </a:rPr>
              <a:t>Lessons learned</a:t>
            </a:r>
          </a:p>
        </p:txBody>
      </p:sp>
      <p:sp>
        <p:nvSpPr>
          <p:cNvPr id="99" name="s7-col-body-0">
            <a:extLst xmlns:a="http://schemas.openxmlformats.org/drawingml/2006/main">
              <a:ext uri="{FF2B5EF4-FFF2-40B4-BE49-F238E27FC236}">
                <a16:creationId xmlns:a16="http://schemas.microsoft.com/office/drawing/2014/main" id="{0BF0DCA4-C7BD-446E-9BE8-4B2C8B45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2038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827"/>
                </a:solidFill>
              </a:defRPr>
            </a:pPr>
            <a:r>
              <a:rPr sz="1050">
                <a:solidFill>
                  <a:srgbClr val="111827"/>
                </a:solidFill>
              </a:rPr>
              <a:t>- The schema is the agent's contract</a:t>
            </a:r>
          </a:p>
          <a:p xmlns:a="http://schemas.openxmlformats.org/drawingml/2006/main">
            <a:pPr>
              <a:defRPr sz="1050">
                <a:solidFill>
                  <a:srgbClr val="111827"/>
                </a:solidFill>
              </a:defRPr>
            </a:pPr>
            <a:r>
              <a:rPr sz="1050">
                <a:solidFill>
                  <a:srgbClr val="111827"/>
                </a:solidFill>
              </a:rPr>
              <a:t>- Visuals need their own evidence field</a:t>
            </a:r>
          </a:p>
          <a:p xmlns:a="http://schemas.openxmlformats.org/drawingml/2006/main">
            <a:pPr>
              <a:defRPr sz="1050">
                <a:solidFill>
                  <a:srgbClr val="111827"/>
                </a:solidFill>
              </a:defRPr>
            </a:pPr>
            <a:r>
              <a:rPr sz="1050">
                <a:solidFill>
                  <a:srgbClr val="111827"/>
                </a:solidFill>
              </a:rPr>
              <a:t>- Honest degraded states are better than silent failures</a:t>
            </a:r>
          </a:p>
        </p:txBody>
      </p:sp>
      <p:sp>
        <p:nvSpPr>
          <p:cNvPr id="100" name="s7-col-1">
            <a:extLst xmlns:a="http://schemas.openxmlformats.org/drawingml/2006/main">
              <a:ext uri="{FF2B5EF4-FFF2-40B4-BE49-F238E27FC236}">
                <a16:creationId xmlns:a16="http://schemas.microsoft.com/office/drawing/2014/main" id="{1E69AD22-DF8A-49FF-8A8F-6ECDCBD0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847850"/>
            <a:ext cx="24003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AF7F4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1" name="s7-col-title-1">
            <a:extLst xmlns:a="http://schemas.openxmlformats.org/drawingml/2006/main">
              <a:ext uri="{FF2B5EF4-FFF2-40B4-BE49-F238E27FC236}">
                <a16:creationId xmlns:a16="http://schemas.microsoft.com/office/drawing/2014/main" id="{C9F008F9-8EE9-4F33-8C4D-4CB11153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574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9D8A"/>
                </a:solidFill>
              </a:defRPr>
            </a:pPr>
            <a:r>
              <a:rPr sz="1350" b="1">
                <a:solidFill>
                  <a:srgbClr val="1F9D8A"/>
                </a:solidFill>
              </a:rPr>
              <a:t>Future work</a:t>
            </a:r>
          </a:p>
        </p:txBody>
      </p:sp>
      <p:sp>
        <p:nvSpPr>
          <p:cNvPr id="102" name="s7-col-body-1">
            <a:extLst xmlns:a="http://schemas.openxmlformats.org/drawingml/2006/main">
              <a:ext uri="{FF2B5EF4-FFF2-40B4-BE49-F238E27FC236}">
                <a16:creationId xmlns:a16="http://schemas.microsoft.com/office/drawing/2014/main" id="{1D88A63B-0BF8-4FC5-9746-49B17E4F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95550"/>
            <a:ext cx="2038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827"/>
                </a:solidFill>
              </a:defRPr>
            </a:pPr>
            <a:r>
              <a:rPr sz="1050">
                <a:solidFill>
                  <a:srgbClr val="111827"/>
                </a:solidFill>
              </a:rPr>
              <a:t>- Finish page reader through memory</a:t>
            </a:r>
          </a:p>
          <a:p xmlns:a="http://schemas.openxmlformats.org/drawingml/2006/main">
            <a:pPr>
              <a:defRPr sz="1050">
                <a:solidFill>
                  <a:srgbClr val="111827"/>
                </a:solidFill>
              </a:defRPr>
            </a:pPr>
            <a:r>
              <a:rPr sz="1050">
                <a:solidFill>
                  <a:srgbClr val="111827"/>
                </a:solidFill>
              </a:rPr>
              <a:t>- Commit one golden run</a:t>
            </a:r>
          </a:p>
          <a:p xmlns:a="http://schemas.openxmlformats.org/drawingml/2006/main">
            <a:pPr>
              <a:defRPr sz="1050">
                <a:solidFill>
                  <a:srgbClr val="111827"/>
                </a:solidFill>
              </a:defRPr>
            </a:pPr>
            <a:r>
              <a:rPr sz="1050">
                <a:solidFill>
                  <a:srgbClr val="111827"/>
                </a:solidFill>
              </a:rPr>
              <a:t>- Build Streamlit replay for the demo</a:t>
            </a:r>
          </a:p>
          <a:p xmlns:a="http://schemas.openxmlformats.org/drawingml/2006/main">
            <a:pPr>
              <a:defRPr sz="1050">
                <a:solidFill>
                  <a:srgbClr val="111827"/>
                </a:solidFill>
              </a:defRPr>
            </a:pPr>
            <a:r>
              <a:rPr sz="1050">
                <a:solidFill>
                  <a:srgbClr val="111827"/>
                </a:solidFill>
              </a:rPr>
              <a:t>- Expand labels beyond one course deck</a:t>
            </a:r>
          </a:p>
        </p:txBody>
      </p:sp>
      <p:sp>
        <p:nvSpPr>
          <p:cNvPr id="103" name="s7-col-2">
            <a:extLst xmlns:a="http://schemas.openxmlformats.org/drawingml/2006/main">
              <a:ext uri="{FF2B5EF4-FFF2-40B4-BE49-F238E27FC236}">
                <a16:creationId xmlns:a16="http://schemas.microsoft.com/office/drawing/2014/main" id="{96665321-DB71-4C8B-BE08-91585E3A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47850"/>
            <a:ext cx="24003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4E2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4" name="s7-col-title-2">
            <a:extLst xmlns:a="http://schemas.openxmlformats.org/drawingml/2006/main">
              <a:ext uri="{FF2B5EF4-FFF2-40B4-BE49-F238E27FC236}">
                <a16:creationId xmlns:a16="http://schemas.microsoft.com/office/drawing/2014/main" id="{13CFD16D-CD31-4E5C-97D6-0D4D50E0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574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47A19"/>
                </a:solidFill>
              </a:defRPr>
            </a:pPr>
            <a:r>
              <a:rPr sz="1350" b="1">
                <a:solidFill>
                  <a:srgbClr val="C47A19"/>
                </a:solidFill>
              </a:rPr>
              <a:t>Professor-facing claim</a:t>
            </a:r>
          </a:p>
        </p:txBody>
      </p:sp>
      <p:sp>
        <p:nvSpPr>
          <p:cNvPr id="105" name="s7-col-body-2">
            <a:extLst xmlns:a="http://schemas.openxmlformats.org/drawingml/2006/main">
              <a:ext uri="{FF2B5EF4-FFF2-40B4-BE49-F238E27FC236}">
                <a16:creationId xmlns:a16="http://schemas.microsoft.com/office/drawing/2014/main" id="{307A4FD2-24FF-4962-9450-FD392A0A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95550"/>
            <a:ext cx="2038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827"/>
                </a:solidFill>
              </a:defRPr>
            </a:pPr>
            <a:r>
              <a:rPr sz="1050">
                <a:solidFill>
                  <a:srgbClr val="111827"/>
                </a:solidFill>
              </a:rPr>
              <a:t>The project is not just a study tool; it is a controlled test of whether multimodal input changes learning artifacts.</a:t>
            </a:r>
          </a:p>
        </p:txBody>
      </p:sp>
      <p:sp>
        <p:nvSpPr>
          <p:cNvPr id="106" name="s7-close">
            <a:extLst xmlns:a="http://schemas.openxmlformats.org/drawingml/2006/main">
              <a:ext uri="{FF2B5EF4-FFF2-40B4-BE49-F238E27FC236}">
                <a16:creationId xmlns:a16="http://schemas.microsoft.com/office/drawing/2014/main" id="{B55BF2C7-ECEC-4737-AF93-FF1BD5EC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100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Next milestone: an end-to-end Day 3 run with image/text comparison artifacts ready to replay.</a:t>
            </a:r>
          </a:p>
        </p:txBody>
      </p:sp>
    </p:spTree>
    <p:extLst>
      <p:ext uri="{BB962C8B-B14F-4D97-AF65-F5344CB8AC3E}">
        <p14:creationId xmlns:p14="http://schemas.microsoft.com/office/powerpoint/2010/main" val="1660082037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2026-08-21T00:16:32.1730000Z</dcterms:created>
  <dcterms:modified xsi:type="dcterms:W3CDTF">2026-08-21T00:16:32.1730000Z</dcterms:modified>
</coreProperties>
</file>