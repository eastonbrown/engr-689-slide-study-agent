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 Sanya" userId="3858c62b8671ca40" providerId="LiveId" clId="{F8EA54DB-AA73-4C05-A541-7FFB088F4F8D}"/>
    <pc:docChg chg="custSel modSld">
      <pc:chgData name="Johnson Sanya" userId="3858c62b8671ca40" providerId="LiveId" clId="{F8EA54DB-AA73-4C05-A541-7FFB088F4F8D}" dt="2026-08-21T03:17:21.177" v="7" actId="255"/>
      <pc:docMkLst>
        <pc:docMk/>
      </pc:docMkLst>
      <pc:sldChg chg="modSp mod">
        <pc:chgData name="Johnson Sanya" userId="3858c62b8671ca40" providerId="LiveId" clId="{F8EA54DB-AA73-4C05-A541-7FFB088F4F8D}" dt="2026-08-21T03:15:19.719" v="2" actId="255"/>
        <pc:sldMkLst>
          <pc:docMk/>
          <pc:sldMk cId="1592976056" sldId="258"/>
        </pc:sldMkLst>
        <pc:spChg chg="mod">
          <ac:chgData name="Johnson Sanya" userId="3858c62b8671ca40" providerId="LiveId" clId="{F8EA54DB-AA73-4C05-A541-7FFB088F4F8D}" dt="2026-08-21T03:15:19.719" v="2" actId="255"/>
          <ac:spMkLst>
            <pc:docMk/>
            <pc:sldMk cId="1592976056" sldId="258"/>
            <ac:spMk id="72" creationId="{2EA2D871-C658-47DB-9733-E5875FF23F06}"/>
          </ac:spMkLst>
        </pc:spChg>
      </pc:sldChg>
      <pc:sldChg chg="modSp mod">
        <pc:chgData name="Johnson Sanya" userId="3858c62b8671ca40" providerId="LiveId" clId="{F8EA54DB-AA73-4C05-A541-7FFB088F4F8D}" dt="2026-08-21T03:17:21.177" v="7" actId="255"/>
        <pc:sldMkLst>
          <pc:docMk/>
          <pc:sldMk cId="1976804302" sldId="259"/>
        </pc:sldMkLst>
        <pc:spChg chg="mod">
          <ac:chgData name="Johnson Sanya" userId="3858c62b8671ca40" providerId="LiveId" clId="{F8EA54DB-AA73-4C05-A541-7FFB088F4F8D}" dt="2026-08-21T03:17:21.177" v="7" actId="255"/>
          <ac:spMkLst>
            <pc:docMk/>
            <pc:sldMk cId="1976804302" sldId="259"/>
            <ac:spMk id="78" creationId="{FD9C9FF7-70A1-44D5-837A-E8AC2A9312DF}"/>
          </ac:spMkLst>
        </pc:spChg>
      </pc:sldChg>
      <pc:sldChg chg="modSp mod">
        <pc:chgData name="Johnson Sanya" userId="3858c62b8671ca40" providerId="LiveId" clId="{F8EA54DB-AA73-4C05-A541-7FFB088F4F8D}" dt="2026-08-21T03:17:05.880" v="4" actId="255"/>
        <pc:sldMkLst>
          <pc:docMk/>
          <pc:sldMk cId="614601502" sldId="260"/>
        </pc:sldMkLst>
        <pc:spChg chg="mod">
          <ac:chgData name="Johnson Sanya" userId="3858c62b8671ca40" providerId="LiveId" clId="{F8EA54DB-AA73-4C05-A541-7FFB088F4F8D}" dt="2026-08-21T03:17:05.880" v="4" actId="255"/>
          <ac:spMkLst>
            <pc:docMk/>
            <pc:sldMk cId="614601502" sldId="260"/>
            <ac:spMk id="84" creationId="{F7AF5B2D-F267-4B12-B030-8E21BFA97D21}"/>
          </ac:spMkLst>
        </pc:spChg>
      </pc:sldChg>
      <pc:sldChg chg="modSp mod">
        <pc:chgData name="Johnson Sanya" userId="3858c62b8671ca40" providerId="LiveId" clId="{F8EA54DB-AA73-4C05-A541-7FFB088F4F8D}" dt="2026-08-21T03:16:49.582" v="3" actId="255"/>
        <pc:sldMkLst>
          <pc:docMk/>
          <pc:sldMk cId="469707864" sldId="262"/>
        </pc:sldMkLst>
        <pc:spChg chg="mod">
          <ac:chgData name="Johnson Sanya" userId="3858c62b8671ca40" providerId="LiveId" clId="{F8EA54DB-AA73-4C05-A541-7FFB088F4F8D}" dt="2026-08-21T03:16:49.582" v="3" actId="255"/>
          <ac:spMkLst>
            <pc:docMk/>
            <pc:sldMk cId="469707864" sldId="262"/>
            <ac:spMk id="96" creationId="{BAD50E11-2BFD-42DD-8177-B25E40385C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 with the central claim: lecture slides are visual artifacts, so a study agent should read rendered pages, not only extracted text.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data/course/slides/Day3 Principle.pdf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Replace [Your Name] with the presenter name. The numbers come from the course data README and eval label file.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eval/figure-only-facts.json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SlideNote schema is the load-bearing interface. It separates page reading from visual assertions, concepts, and failure notes.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docs/adr/0002-per-slide-note-schema.md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src/study_agent/schemas.py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deck uses the strongest figure-only examples on the slide itself and notes that slide 10 is reported separately as the weak case.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eval/figure-only-facts.json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data/course/slides/Day3 Principle.pdf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Mention current status clearly: the pipeline is specified, and the landed code covers strict schemas, render/preflight, path helpers, config, and tests.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src/study_agent/schemas.py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src/study_agent/render.py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src/study_agent/paths.py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src/study_agent/config.py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tests/test_schemas.py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scoreboard is intentionally shown as denominators because the repo has the protocol and labels, while results are still to be filled after the golden run.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eval/results.md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eval/figure-only-facts.json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docs/adr/0006-eval-protocol-and-results-table.md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by positioning the project as both a useful study tool and a controlled modality experiment for the course.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docs/adr/0001-model-provider-and-vision-model.md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docs/adr/0003-cross-deck-topic-taxonomy.md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docs/adr/0005-quiz-answer-key-and-retake-schema.md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CF39156B-B844-4141-9C9A-B7F078728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14E52DD8-B294-4AAF-AA63-9DDE597CF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1046FA81-E58F-48EA-93FC-F0E3B527DE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AE548DC3-AE58-4E47-88A5-15BB8E30D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575D2972-B1A3-4AFB-AC74-12C02B6D27B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5CFBB251-10D5-44D4-B1DE-86801E96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2C8B503E-477D-4E26-A8C0-CFCA18C82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244B06C8-C28B-4718-A573-B580CF31F6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22CB665D-8B7D-445B-9F7D-C7D1A77B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8B643DE7-3555-46A6-9CB0-DC60BFA28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E54B9F09-D429-44B0-B45F-BE4322452FB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39D6A948-B1AB-4413-AACC-776B968FC2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93BE6B02-6091-4658-896C-2FFFAD15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C6AB4054-A47B-46B1-8093-097C607BA2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E311711C-350D-449E-98D6-EEEAB6CD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D94F3E23-9DED-45AB-BA1E-D3673FFF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E3E1FDD5-8D8C-4CF7-A22F-C38883DF91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96F30405-0D56-4B9F-A1A6-D610013FA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BFD7DFF3-CEC1-402E-94CA-5AC0AE5AA7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E7661FA2-C45F-48D8-B786-D5A90094BE68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F6BFDF7D-7353-4CE8-917C-FCC5AC8E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DA46C69E-B3BF-4341-B786-EACD3103E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F816948D-3A79-4C84-9516-CB476DCC1E0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17F4348-B768-4631-9048-BCAE56F8F4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181DFF54-E975-4261-B1C0-5887D8A2A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F5AA7F4B-4EBE-46C4-A000-9498687E5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2EAA3050-3986-412F-A2A2-5C6212012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14A5307E-C15B-4FF0-BC3A-4E1CFE4EC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DFA48519-372D-4B77-907B-FF13A666AD6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37B964B4-1EC7-4458-A119-A4D922FE27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B42377C4-2E0E-4EEA-8532-0B68D0C7E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5CEECD49-2C1F-4FFB-BFCF-1A45E84AD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7DE5CEAD-3FC0-4610-8DF5-52AC096B58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54BB1A2-F6CA-463D-8B17-CE5FEDCB8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450" y="1143000"/>
            <a:ext cx="4762500" cy="123825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Slide Deck to</a:t>
            </a:r>
            <a:endParaRPr sz="45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Study Guide Agent</a:t>
            </a:r>
            <a:endParaRPr sz="4500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95D7C12C-EC1E-46C6-8F38-68870AFA7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550" y="2686050"/>
            <a:ext cx="4857750" cy="876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DDE7F6"/>
                </a:solidFill>
              </a:defRPr>
            </a:pPr>
            <a:r>
              <a:rPr sz="1500">
                <a:solidFill>
                  <a:srgbClr val="DDE7F6"/>
                </a:solidFill>
              </a:rPr>
              <a:t>A multimodal ENGR 689 project that turns visual lecture decks into cited review, quiz practice, and retake memory.</a:t>
            </a:r>
            <a:endParaRPr sz="2100"/>
          </a:p>
        </p:txBody>
      </p:sp>
      <p:sp>
        <p:nvSpPr>
          <p:cNvPr id="56" name="hero-accent-top">
            <a:extLst>
              <a:ext uri="{FF2B5EF4-FFF2-40B4-BE49-F238E27FC236}">
                <a16:creationId xmlns:a16="http://schemas.microsoft.com/office/drawing/2014/main" id="{56EC58CC-8FBE-4656-94B1-6D0BCBBA66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95250"/>
          </a:xfrm>
          <a:prstGeom prst="rect">
            <a:avLst/>
          </a:prstGeom>
          <a:solidFill>
            <a:srgbClr val="29C4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hero-accent-bottom">
            <a:extLst>
              <a:ext uri="{FF2B5EF4-FFF2-40B4-BE49-F238E27FC236}">
                <a16:creationId xmlns:a16="http://schemas.microsoft.com/office/drawing/2014/main" id="{FFF40461-7F98-48FB-9557-AD8799E15BBA}"/>
              </a:ext>
            </a:extLst>
          </p:cNvPr>
          <p:cNvSpPr>
            <a:spLocks noGrp="1"/>
          </p:cNvSpPr>
          <p:nvPr/>
        </p:nvSpPr>
        <p:spPr>
          <a:xfrm>
            <a:off x="0" y="5048250"/>
            <a:ext cx="9144000" cy="95250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rcRect t="46" b="46"/>
          <a:stretch>
            <a:fillRect/>
          </a:stretch>
        </p:blipFill>
        <p:spPr>
          <a:xfrm>
            <a:off x="5943600" y="1104900"/>
            <a:ext cx="2305050" cy="1295400"/>
          </a:xfrm>
          <a:prstGeom prst="roundRect">
            <a:avLst>
              <a:gd name="adj" fmla="val 8824"/>
            </a:avLst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4"/>
          <a:srcRect l="101" r="101"/>
          <a:stretch>
            <a:fillRect/>
          </a:stretch>
        </p:blipFill>
        <p:spPr>
          <a:xfrm>
            <a:off x="6457950" y="2114550"/>
            <a:ext cx="2095500" cy="1181100"/>
          </a:xfrm>
          <a:prstGeom prst="roundRect">
            <a:avLst>
              <a:gd name="adj" fmla="val 9677"/>
            </a:avLst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5"/>
          <a:srcRect t="46" b="46"/>
          <a:stretch>
            <a:fillRect/>
          </a:stretch>
        </p:blipFill>
        <p:spPr>
          <a:xfrm>
            <a:off x="5772150" y="3143250"/>
            <a:ext cx="2305050" cy="1295400"/>
          </a:xfrm>
          <a:prstGeom prst="roundRect">
            <a:avLst>
              <a:gd name="adj" fmla="val 8824"/>
            </a:avLst>
          </a:prstGeom>
        </p:spPr>
      </p:pic>
      <p:sp>
        <p:nvSpPr>
          <p:cNvPr id="61" name="hero-course-tag">
            <a:extLst>
              <a:ext uri="{FF2B5EF4-FFF2-40B4-BE49-F238E27FC236}">
                <a16:creationId xmlns:a16="http://schemas.microsoft.com/office/drawing/2014/main" id="{A39DC989-273C-4585-905C-4FB86624DB1B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714500" cy="304800"/>
          </a:xfrm>
          <a:prstGeom prst="roundRect">
            <a:avLst>
              <a:gd name="adj" fmla="val 25000"/>
            </a:avLst>
          </a:prstGeom>
          <a:solidFill>
            <a:srgbClr val="24314A"/>
          </a:solidFill>
          <a:ln w="9525">
            <a:solidFill>
              <a:srgbClr val="24314A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ENGR 689 · Fall 2026</a:t>
            </a:r>
          </a:p>
        </p:txBody>
      </p:sp>
      <p:sp>
        <p:nvSpPr>
          <p:cNvPr id="62" name="hero-thesis-tag">
            <a:extLst>
              <a:ext uri="{FF2B5EF4-FFF2-40B4-BE49-F238E27FC236}">
                <a16:creationId xmlns:a16="http://schemas.microsoft.com/office/drawing/2014/main" id="{2FF1B186-B9DD-4039-B15B-D3A14F01D3BE}"/>
              </a:ext>
            </a:extLst>
          </p:cNvPr>
          <p:cNvSpPr>
            <a:spLocks noGrp="1"/>
          </p:cNvSpPr>
          <p:nvPr/>
        </p:nvSpPr>
        <p:spPr>
          <a:xfrm>
            <a:off x="2476500" y="3714750"/>
            <a:ext cx="2000250" cy="304800"/>
          </a:xfrm>
          <a:prstGeom prst="roundRect">
            <a:avLst>
              <a:gd name="adj" fmla="val 25000"/>
            </a:avLst>
          </a:prstGeom>
          <a:solidFill>
            <a:srgbClr val="24314A"/>
          </a:solidFill>
          <a:ln w="9525">
            <a:solidFill>
              <a:srgbClr val="24314A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image path vs text baseline</a:t>
            </a:r>
          </a:p>
        </p:txBody>
      </p:sp>
    </p:spTree>
    <p:extLst>
      <p:ext uri="{BB962C8B-B14F-4D97-AF65-F5344CB8AC3E}">
        <p14:creationId xmlns:p14="http://schemas.microsoft.com/office/powerpoint/2010/main" val="131874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>
            <a:extLst>
              <a:ext uri="{FF2B5EF4-FFF2-40B4-BE49-F238E27FC236}">
                <a16:creationId xmlns:a16="http://schemas.microsoft.com/office/drawing/2014/main" id="{3E0E10FC-FEEA-476D-A2F2-5DE929940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781050"/>
            <a:ext cx="2095500" cy="89535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 fontScale="79918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Project promise</a:t>
            </a:r>
            <a:endParaRPr sz="4500"/>
          </a:p>
        </p:txBody>
      </p:sp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0067074E-6391-4F11-9157-9F52307DF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3733800"/>
            <a:ext cx="2000250" cy="609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DCE6F3"/>
                </a:solidFill>
              </a:defRPr>
            </a:pPr>
            <a:r>
              <a:rPr sz="1125">
                <a:solidFill>
                  <a:srgbClr val="DCE6F3"/>
                </a:solidFill>
              </a:rPr>
              <a:t>Prepared by: [Your Name]</a:t>
            </a:r>
            <a:endParaRPr sz="21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DCE6F3"/>
                </a:solidFill>
              </a:defRPr>
            </a:pPr>
            <a:r>
              <a:rPr sz="1125">
                <a:solidFill>
                  <a:srgbClr val="DCE6F3"/>
                </a:solidFill>
              </a:rPr>
              <a:t>Mini-project presentation</a:t>
            </a:r>
            <a:endParaRPr sz="2100"/>
          </a:p>
        </p:txBody>
      </p:sp>
      <p:sp>
        <p:nvSpPr>
          <p:cNvPr id="67" name="s2-left-band">
            <a:extLst>
              <a:ext uri="{FF2B5EF4-FFF2-40B4-BE49-F238E27FC236}">
                <a16:creationId xmlns:a16="http://schemas.microsoft.com/office/drawing/2014/main" id="{649CDA9E-7163-4676-86A5-C11948AA2C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19375" cy="5143500"/>
          </a:xfrm>
          <a:prstGeom prst="rect">
            <a:avLst/>
          </a:prstGeom>
          <a:solidFill>
            <a:srgbClr val="1018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2-claim">
            <a:extLst>
              <a:ext uri="{FF2B5EF4-FFF2-40B4-BE49-F238E27FC236}">
                <a16:creationId xmlns:a16="http://schemas.microsoft.com/office/drawing/2014/main" id="{C9AC72B8-6466-4273-A648-096F299818FD}"/>
              </a:ext>
            </a:extLst>
          </p:cNvPr>
          <p:cNvSpPr>
            <a:spLocks noGrp="1"/>
          </p:cNvSpPr>
          <p:nvPr/>
        </p:nvSpPr>
        <p:spPr>
          <a:xfrm>
            <a:off x="3105150" y="68580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The application produces learning artifacts that stay traceable to the original slide numbers.</a:t>
            </a:r>
          </a:p>
        </p:txBody>
      </p:sp>
      <p:sp>
        <p:nvSpPr>
          <p:cNvPr id="69" name="s2-m1-box">
            <a:extLst>
              <a:ext uri="{FF2B5EF4-FFF2-40B4-BE49-F238E27FC236}">
                <a16:creationId xmlns:a16="http://schemas.microsoft.com/office/drawing/2014/main" id="{C918778E-BFED-459A-BD40-9F2C40188FF5}"/>
              </a:ext>
            </a:extLst>
          </p:cNvPr>
          <p:cNvSpPr>
            <a:spLocks noGrp="1"/>
          </p:cNvSpPr>
          <p:nvPr/>
        </p:nvSpPr>
        <p:spPr>
          <a:xfrm>
            <a:off x="3105150" y="1638300"/>
            <a:ext cx="1524000" cy="1066800"/>
          </a:xfrm>
          <a:prstGeom prst="roundRect">
            <a:avLst>
              <a:gd name="adj" fmla="val 10714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2-m1-value">
            <a:extLst>
              <a:ext uri="{FF2B5EF4-FFF2-40B4-BE49-F238E27FC236}">
                <a16:creationId xmlns:a16="http://schemas.microsoft.com/office/drawing/2014/main" id="{47ECE677-75CC-4370-9D91-066F6CFCE362}"/>
              </a:ext>
            </a:extLst>
          </p:cNvPr>
          <p:cNvSpPr>
            <a:spLocks noGrp="1"/>
          </p:cNvSpPr>
          <p:nvPr/>
        </p:nvSpPr>
        <p:spPr>
          <a:xfrm>
            <a:off x="3257550" y="1752600"/>
            <a:ext cx="121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867F0"/>
                </a:solidFill>
              </a:defRPr>
            </a:pPr>
            <a:r>
              <a:rPr sz="2250" b="1">
                <a:solidFill>
                  <a:srgbClr val="2867F0"/>
                </a:solidFill>
              </a:rPr>
              <a:t>286</a:t>
            </a:r>
          </a:p>
        </p:txBody>
      </p:sp>
      <p:sp>
        <p:nvSpPr>
          <p:cNvPr id="71" name="s2-m1-label">
            <a:extLst>
              <a:ext uri="{FF2B5EF4-FFF2-40B4-BE49-F238E27FC236}">
                <a16:creationId xmlns:a16="http://schemas.microsoft.com/office/drawing/2014/main" id="{79DABB20-4709-41FF-80A0-3D84A35F64C5}"/>
              </a:ext>
            </a:extLst>
          </p:cNvPr>
          <p:cNvSpPr>
            <a:spLocks noGrp="1"/>
          </p:cNvSpPr>
          <p:nvPr/>
        </p:nvSpPr>
        <p:spPr>
          <a:xfrm>
            <a:off x="3238500" y="215265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course slides across five lecture decks</a:t>
            </a:r>
          </a:p>
        </p:txBody>
      </p:sp>
      <p:sp>
        <p:nvSpPr>
          <p:cNvPr id="72" name="s2-m2-box">
            <a:extLst>
              <a:ext uri="{FF2B5EF4-FFF2-40B4-BE49-F238E27FC236}">
                <a16:creationId xmlns:a16="http://schemas.microsoft.com/office/drawing/2014/main" id="{3F10393B-085B-405F-811D-A08678DA9D53}"/>
              </a:ext>
            </a:extLst>
          </p:cNvPr>
          <p:cNvSpPr>
            <a:spLocks noGrp="1"/>
          </p:cNvSpPr>
          <p:nvPr/>
        </p:nvSpPr>
        <p:spPr>
          <a:xfrm>
            <a:off x="4876800" y="1638300"/>
            <a:ext cx="1524000" cy="1066800"/>
          </a:xfrm>
          <a:prstGeom prst="roundRect">
            <a:avLst>
              <a:gd name="adj" fmla="val 10714"/>
            </a:avLst>
          </a:prstGeom>
          <a:solidFill>
            <a:srgbClr val="E6FBF8"/>
          </a:solidFill>
          <a:ln w="9525">
            <a:solidFill>
              <a:srgbClr val="E6F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2-m2-value">
            <a:extLst>
              <a:ext uri="{FF2B5EF4-FFF2-40B4-BE49-F238E27FC236}">
                <a16:creationId xmlns:a16="http://schemas.microsoft.com/office/drawing/2014/main" id="{817D16AB-5719-478C-A74A-0CB3C2FA517F}"/>
              </a:ext>
            </a:extLst>
          </p:cNvPr>
          <p:cNvSpPr>
            <a:spLocks noGrp="1"/>
          </p:cNvSpPr>
          <p:nvPr/>
        </p:nvSpPr>
        <p:spPr>
          <a:xfrm>
            <a:off x="5029200" y="1752600"/>
            <a:ext cx="121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6A085"/>
                </a:solidFill>
              </a:defRPr>
            </a:pPr>
            <a:r>
              <a:rPr sz="2250" b="1">
                <a:solidFill>
                  <a:srgbClr val="16A085"/>
                </a:solidFill>
              </a:rPr>
              <a:t>138</a:t>
            </a:r>
          </a:p>
        </p:txBody>
      </p:sp>
      <p:sp>
        <p:nvSpPr>
          <p:cNvPr id="74" name="s2-m2-label">
            <a:extLst>
              <a:ext uri="{FF2B5EF4-FFF2-40B4-BE49-F238E27FC236}">
                <a16:creationId xmlns:a16="http://schemas.microsoft.com/office/drawing/2014/main" id="{57BF8AE7-16FA-4704-981F-140E4AD84ECB}"/>
              </a:ext>
            </a:extLst>
          </p:cNvPr>
          <p:cNvSpPr>
            <a:spLocks noGrp="1"/>
          </p:cNvSpPr>
          <p:nvPr/>
        </p:nvSpPr>
        <p:spPr>
          <a:xfrm>
            <a:off x="5010150" y="215265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embedded images in the Day 3 eval deck</a:t>
            </a:r>
          </a:p>
        </p:txBody>
      </p:sp>
      <p:sp>
        <p:nvSpPr>
          <p:cNvPr id="75" name="s2-m3-box">
            <a:extLst>
              <a:ext uri="{FF2B5EF4-FFF2-40B4-BE49-F238E27FC236}">
                <a16:creationId xmlns:a16="http://schemas.microsoft.com/office/drawing/2014/main" id="{C9AFE939-6D04-4825-8882-ECEF13F3D7C8}"/>
              </a:ext>
            </a:extLst>
          </p:cNvPr>
          <p:cNvSpPr>
            <a:spLocks noGrp="1"/>
          </p:cNvSpPr>
          <p:nvPr/>
        </p:nvSpPr>
        <p:spPr>
          <a:xfrm>
            <a:off x="6648450" y="1638300"/>
            <a:ext cx="1524000" cy="1066800"/>
          </a:xfrm>
          <a:prstGeom prst="roundRect">
            <a:avLst>
              <a:gd name="adj" fmla="val 10714"/>
            </a:avLst>
          </a:prstGeom>
          <a:solidFill>
            <a:srgbClr val="FFF3D8"/>
          </a:solidFill>
          <a:ln w="9525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2-m3-value">
            <a:extLst>
              <a:ext uri="{FF2B5EF4-FFF2-40B4-BE49-F238E27FC236}">
                <a16:creationId xmlns:a16="http://schemas.microsoft.com/office/drawing/2014/main" id="{644EFDA9-34E7-4403-BEEB-8C8FCAF0FDD1}"/>
              </a:ext>
            </a:extLst>
          </p:cNvPr>
          <p:cNvSpPr>
            <a:spLocks noGrp="1"/>
          </p:cNvSpPr>
          <p:nvPr/>
        </p:nvSpPr>
        <p:spPr>
          <a:xfrm>
            <a:off x="6800850" y="1752600"/>
            <a:ext cx="121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5A524"/>
                </a:solidFill>
              </a:defRPr>
            </a:pPr>
            <a:r>
              <a:rPr sz="2250" b="1">
                <a:solidFill>
                  <a:srgbClr val="F5A524"/>
                </a:solidFill>
              </a:rPr>
              <a:t>4</a:t>
            </a:r>
          </a:p>
        </p:txBody>
      </p:sp>
      <p:sp>
        <p:nvSpPr>
          <p:cNvPr id="77" name="s2-m3-label">
            <a:extLst>
              <a:ext uri="{FF2B5EF4-FFF2-40B4-BE49-F238E27FC236}">
                <a16:creationId xmlns:a16="http://schemas.microsoft.com/office/drawing/2014/main" id="{1F34E866-72F5-4FBE-8698-3B40D4C8ED14}"/>
              </a:ext>
            </a:extLst>
          </p:cNvPr>
          <p:cNvSpPr>
            <a:spLocks noGrp="1"/>
          </p:cNvSpPr>
          <p:nvPr/>
        </p:nvSpPr>
        <p:spPr>
          <a:xfrm>
            <a:off x="6781800" y="215265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hand-labeled figure-only facts</a:t>
            </a:r>
          </a:p>
        </p:txBody>
      </p:sp>
      <p:sp>
        <p:nvSpPr>
          <p:cNvPr id="78" name="s2-output">
            <a:extLst>
              <a:ext uri="{FF2B5EF4-FFF2-40B4-BE49-F238E27FC236}">
                <a16:creationId xmlns:a16="http://schemas.microsoft.com/office/drawing/2014/main" id="{9F3C7C72-4DA2-46CA-9F94-C7353ECE976D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50673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2-output-title">
            <a:extLst>
              <a:ext uri="{FF2B5EF4-FFF2-40B4-BE49-F238E27FC236}">
                <a16:creationId xmlns:a16="http://schemas.microsoft.com/office/drawing/2014/main" id="{2C68229F-B785-404F-8CB6-70502565ED09}"/>
              </a:ext>
            </a:extLst>
          </p:cNvPr>
          <p:cNvSpPr>
            <a:spLocks noGrp="1"/>
          </p:cNvSpPr>
          <p:nvPr/>
        </p:nvSpPr>
        <p:spPr>
          <a:xfrm>
            <a:off x="3352800" y="33337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D4CDB"/>
                </a:solidFill>
              </a:defRPr>
            </a:pPr>
            <a:r>
              <a:rPr sz="1350" b="1">
                <a:solidFill>
                  <a:srgbClr val="7D4CDB"/>
                </a:solidFill>
              </a:rPr>
              <a:t>Student output</a:t>
            </a:r>
          </a:p>
        </p:txBody>
      </p:sp>
      <p:sp>
        <p:nvSpPr>
          <p:cNvPr id="80" name="s2-output-body">
            <a:extLst>
              <a:ext uri="{FF2B5EF4-FFF2-40B4-BE49-F238E27FC236}">
                <a16:creationId xmlns:a16="http://schemas.microsoft.com/office/drawing/2014/main" id="{CFEDD095-F1DA-4B76-93DE-E714B4F880E6}"/>
              </a:ext>
            </a:extLst>
          </p:cNvPr>
          <p:cNvSpPr>
            <a:spLocks noGrp="1"/>
          </p:cNvSpPr>
          <p:nvPr/>
        </p:nvSpPr>
        <p:spPr>
          <a:xfrm>
            <a:off x="3352800" y="36576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1. Lesson review with slide-number citations</a:t>
            </a:r>
          </a:p>
          <a:p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2. Ten-question knowledge check with explanations</a:t>
            </a:r>
          </a:p>
          <a:p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3. Retake generation from topic history</a:t>
            </a:r>
          </a:p>
        </p:txBody>
      </p:sp>
    </p:spTree>
    <p:extLst>
      <p:ext uri="{BB962C8B-B14F-4D97-AF65-F5344CB8AC3E}">
        <p14:creationId xmlns:p14="http://schemas.microsoft.com/office/powerpoint/2010/main" val="129147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CF1A2374-6CE9-4338-8BB7-00C68D58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323850"/>
            <a:ext cx="6858000" cy="495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8818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Project description and goal</a:t>
            </a: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2EA2D871-C658-47DB-9733-E5875FF2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150" y="895350"/>
            <a:ext cx="7239000" cy="3619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25000" lnSpcReduction="20000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657084"/>
                </a:solidFill>
              </a:defRPr>
            </a:pPr>
            <a:r>
              <a:rPr sz="4000" dirty="0">
                <a:solidFill>
                  <a:srgbClr val="657084"/>
                </a:solidFill>
              </a:rPr>
              <a:t>Goal: transform a lecture PDF into learning artifacts a student can trust, inspect, and revisit</a:t>
            </a:r>
            <a:r>
              <a:rPr sz="1350" dirty="0">
                <a:solidFill>
                  <a:srgbClr val="657084"/>
                </a:solidFill>
              </a:rPr>
              <a:t>.</a:t>
            </a:r>
            <a:endParaRPr dirty="0"/>
          </a:p>
        </p:txBody>
      </p:sp>
      <p:pic>
        <p:nvPicPr>
          <p:cNvPr id="92" name="Picture 91"/>
          <p:cNvPicPr>
            <a:picLocks noChangeAspect="1"/>
          </p:cNvPicPr>
          <p:nvPr/>
        </p:nvPicPr>
        <p:blipFill>
          <a:blip r:embed="rId3"/>
          <a:srcRect l="133" r="133"/>
          <a:stretch>
            <a:fillRect/>
          </a:stretch>
        </p:blipFill>
        <p:spPr>
          <a:xfrm>
            <a:off x="514350" y="1485900"/>
            <a:ext cx="2381250" cy="1343025"/>
          </a:xfrm>
          <a:prstGeom prst="roundRect">
            <a:avLst>
              <a:gd name="adj" fmla="val 8511"/>
            </a:avLst>
          </a:prstGeom>
        </p:spPr>
      </p:pic>
      <p:sp>
        <p:nvSpPr>
          <p:cNvPr id="74" name="s3-input-label">
            <a:extLst>
              <a:ext uri="{FF2B5EF4-FFF2-40B4-BE49-F238E27FC236}">
                <a16:creationId xmlns:a16="http://schemas.microsoft.com/office/drawing/2014/main" id="{C5374689-1A56-42D8-A948-BE968F82C80F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867F0"/>
                </a:solidFill>
              </a:defRPr>
            </a:pPr>
            <a:r>
              <a:rPr sz="1125" b="1">
                <a:solidFill>
                  <a:srgbClr val="2867F0"/>
                </a:solidFill>
              </a:rPr>
              <a:t>Lecture PDF page</a:t>
            </a:r>
          </a:p>
        </p:txBody>
      </p:sp>
      <p:sp>
        <p:nvSpPr>
          <p:cNvPr id="75" name="s3-arrow1">
            <a:extLst>
              <a:ext uri="{FF2B5EF4-FFF2-40B4-BE49-F238E27FC236}">
                <a16:creationId xmlns:a16="http://schemas.microsoft.com/office/drawing/2014/main" id="{DF1E65D3-A29D-4157-923F-2F52472B6332}"/>
              </a:ext>
            </a:extLst>
          </p:cNvPr>
          <p:cNvSpPr>
            <a:spLocks noGrp="1"/>
          </p:cNvSpPr>
          <p:nvPr/>
        </p:nvSpPr>
        <p:spPr>
          <a:xfrm>
            <a:off x="3105150" y="2095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06449"/>
                </a:solidFill>
              </a:defRPr>
            </a:pPr>
            <a:r>
              <a:rPr sz="2100" b="1">
                <a:solidFill>
                  <a:srgbClr val="F06449"/>
                </a:solidFill>
              </a:rPr>
              <a:t>-&gt;</a:t>
            </a:r>
          </a:p>
        </p:txBody>
      </p:sp>
      <p:sp>
        <p:nvSpPr>
          <p:cNvPr id="76" name="s3-contract">
            <a:extLst>
              <a:ext uri="{FF2B5EF4-FFF2-40B4-BE49-F238E27FC236}">
                <a16:creationId xmlns:a16="http://schemas.microsoft.com/office/drawing/2014/main" id="{41FD5FB6-A97A-42AA-83CB-6D17F76D7351}"/>
              </a:ext>
            </a:extLst>
          </p:cNvPr>
          <p:cNvSpPr>
            <a:spLocks noGrp="1"/>
          </p:cNvSpPr>
          <p:nvPr/>
        </p:nvSpPr>
        <p:spPr>
          <a:xfrm>
            <a:off x="3676650" y="1390650"/>
            <a:ext cx="2000250" cy="1676400"/>
          </a:xfrm>
          <a:prstGeom prst="roundRect">
            <a:avLst>
              <a:gd name="adj" fmla="val 6818"/>
            </a:avLst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3-contract-title">
            <a:extLst>
              <a:ext uri="{FF2B5EF4-FFF2-40B4-BE49-F238E27FC236}">
                <a16:creationId xmlns:a16="http://schemas.microsoft.com/office/drawing/2014/main" id="{C71B94AD-C92B-4186-930D-5B541B87D36B}"/>
              </a:ext>
            </a:extLst>
          </p:cNvPr>
          <p:cNvSpPr>
            <a:spLocks noGrp="1"/>
          </p:cNvSpPr>
          <p:nvPr/>
        </p:nvSpPr>
        <p:spPr>
          <a:xfrm>
            <a:off x="3924300" y="16002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SlideNote</a:t>
            </a:r>
          </a:p>
        </p:txBody>
      </p:sp>
      <p:sp>
        <p:nvSpPr>
          <p:cNvPr id="78" name="s3-contract-body">
            <a:extLst>
              <a:ext uri="{FF2B5EF4-FFF2-40B4-BE49-F238E27FC236}">
                <a16:creationId xmlns:a16="http://schemas.microsoft.com/office/drawing/2014/main" id="{2EDD09E2-EFB4-4BF8-912C-576CE86DDCC7}"/>
              </a:ext>
            </a:extLst>
          </p:cNvPr>
          <p:cNvSpPr>
            <a:spLocks noGrp="1"/>
          </p:cNvSpPr>
          <p:nvPr/>
        </p:nvSpPr>
        <p:spPr>
          <a:xfrm>
            <a:off x="4057650" y="2000250"/>
            <a:ext cx="123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D9E7FF"/>
                </a:solidFill>
              </a:defRPr>
            </a:pPr>
            <a:r>
              <a:rPr sz="1125">
                <a:solidFill>
                  <a:srgbClr val="D9E7FF"/>
                </a:solidFill>
              </a:rPr>
              <a:t>reading</a:t>
            </a:r>
          </a:p>
          <a:p>
            <a:pPr algn="ctr">
              <a:defRPr sz="1125">
                <a:solidFill>
                  <a:srgbClr val="D9E7FF"/>
                </a:solidFill>
              </a:defRPr>
            </a:pPr>
            <a:r>
              <a:rPr sz="1125">
                <a:solidFill>
                  <a:srgbClr val="D9E7FF"/>
                </a:solidFill>
              </a:rPr>
              <a:t>visuals[].assertion</a:t>
            </a:r>
          </a:p>
          <a:p>
            <a:pPr algn="ctr">
              <a:defRPr sz="1125">
                <a:solidFill>
                  <a:srgbClr val="D9E7FF"/>
                </a:solidFill>
              </a:defRPr>
            </a:pPr>
            <a:r>
              <a:rPr sz="1125">
                <a:solidFill>
                  <a:srgbClr val="D9E7FF"/>
                </a:solidFill>
              </a:rPr>
              <a:t>concepts</a:t>
            </a:r>
          </a:p>
          <a:p>
            <a:pPr algn="ctr">
              <a:defRPr sz="1125">
                <a:solidFill>
                  <a:srgbClr val="D9E7FF"/>
                </a:solidFill>
              </a:defRPr>
            </a:pPr>
            <a:r>
              <a:rPr sz="1125">
                <a:solidFill>
                  <a:srgbClr val="D9E7FF"/>
                </a:solidFill>
              </a:rPr>
              <a:t>verbatim_spans</a:t>
            </a:r>
          </a:p>
          <a:p>
            <a:pPr algn="ctr">
              <a:defRPr sz="1125">
                <a:solidFill>
                  <a:srgbClr val="D9E7FF"/>
                </a:solidFill>
              </a:defRPr>
            </a:pPr>
            <a:r>
              <a:rPr sz="1125">
                <a:solidFill>
                  <a:srgbClr val="D9E7FF"/>
                </a:solidFill>
              </a:rPr>
              <a:t>reader_note</a:t>
            </a:r>
          </a:p>
        </p:txBody>
      </p:sp>
      <p:sp>
        <p:nvSpPr>
          <p:cNvPr id="79" name="s3-arrow2">
            <a:extLst>
              <a:ext uri="{FF2B5EF4-FFF2-40B4-BE49-F238E27FC236}">
                <a16:creationId xmlns:a16="http://schemas.microsoft.com/office/drawing/2014/main" id="{9722E804-7C5F-4A72-B6C8-D5E5FB8749BB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06449"/>
                </a:solidFill>
              </a:defRPr>
            </a:pPr>
            <a:r>
              <a:rPr sz="2100" b="1">
                <a:solidFill>
                  <a:srgbClr val="F06449"/>
                </a:solidFill>
              </a:rPr>
              <a:t>-&gt;</a:t>
            </a:r>
          </a:p>
        </p:txBody>
      </p:sp>
      <p:sp>
        <p:nvSpPr>
          <p:cNvPr id="80" name="step-1">
            <a:extLst>
              <a:ext uri="{FF2B5EF4-FFF2-40B4-BE49-F238E27FC236}">
                <a16:creationId xmlns:a16="http://schemas.microsoft.com/office/drawing/2014/main" id="{03F2CB24-1D69-4023-8CE7-E98F78685C68}"/>
              </a:ext>
            </a:extLst>
          </p:cNvPr>
          <p:cNvSpPr>
            <a:spLocks noGrp="1"/>
          </p:cNvSpPr>
          <p:nvPr/>
        </p:nvSpPr>
        <p:spPr>
          <a:xfrm>
            <a:off x="6515100" y="1428750"/>
            <a:ext cx="1638300" cy="514350"/>
          </a:xfrm>
          <a:prstGeom prst="roundRect">
            <a:avLst>
              <a:gd name="adj" fmla="val 22222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tep-1-n">
            <a:extLst>
              <a:ext uri="{FF2B5EF4-FFF2-40B4-BE49-F238E27FC236}">
                <a16:creationId xmlns:a16="http://schemas.microsoft.com/office/drawing/2014/main" id="{7400BA85-A133-4AB3-B4E8-A48B2A3AADD4}"/>
              </a:ext>
            </a:extLst>
          </p:cNvPr>
          <p:cNvSpPr>
            <a:spLocks noGrp="1"/>
          </p:cNvSpPr>
          <p:nvPr/>
        </p:nvSpPr>
        <p:spPr>
          <a:xfrm>
            <a:off x="6629400" y="15240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67F0"/>
                </a:solidFill>
              </a:defRPr>
            </a:pPr>
            <a:r>
              <a:rPr sz="1350" b="1">
                <a:solidFill>
                  <a:srgbClr val="2867F0"/>
                </a:solidFill>
              </a:rPr>
              <a:t>1</a:t>
            </a:r>
          </a:p>
        </p:txBody>
      </p:sp>
      <p:sp>
        <p:nvSpPr>
          <p:cNvPr id="82" name="step-1-label">
            <a:extLst>
              <a:ext uri="{FF2B5EF4-FFF2-40B4-BE49-F238E27FC236}">
                <a16:creationId xmlns:a16="http://schemas.microsoft.com/office/drawing/2014/main" id="{2D66C3CB-CEB2-4D8C-848A-49687473CE00}"/>
              </a:ext>
            </a:extLst>
          </p:cNvPr>
          <p:cNvSpPr>
            <a:spLocks noGrp="1"/>
          </p:cNvSpPr>
          <p:nvPr/>
        </p:nvSpPr>
        <p:spPr>
          <a:xfrm>
            <a:off x="6934200" y="1562100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cited review</a:t>
            </a:r>
          </a:p>
        </p:txBody>
      </p:sp>
      <p:sp>
        <p:nvSpPr>
          <p:cNvPr id="83" name="step-2">
            <a:extLst>
              <a:ext uri="{FF2B5EF4-FFF2-40B4-BE49-F238E27FC236}">
                <a16:creationId xmlns:a16="http://schemas.microsoft.com/office/drawing/2014/main" id="{643D7BDF-3965-4CE4-8D76-DDE0BC701096}"/>
              </a:ext>
            </a:extLst>
          </p:cNvPr>
          <p:cNvSpPr>
            <a:spLocks noGrp="1"/>
          </p:cNvSpPr>
          <p:nvPr/>
        </p:nvSpPr>
        <p:spPr>
          <a:xfrm>
            <a:off x="6515100" y="2152650"/>
            <a:ext cx="1638300" cy="514350"/>
          </a:xfrm>
          <a:prstGeom prst="roundRect">
            <a:avLst>
              <a:gd name="adj" fmla="val 22222"/>
            </a:avLst>
          </a:prstGeom>
          <a:solidFill>
            <a:srgbClr val="E6FBF8"/>
          </a:solidFill>
          <a:ln w="9525">
            <a:solidFill>
              <a:srgbClr val="E6F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tep-2-n">
            <a:extLst>
              <a:ext uri="{FF2B5EF4-FFF2-40B4-BE49-F238E27FC236}">
                <a16:creationId xmlns:a16="http://schemas.microsoft.com/office/drawing/2014/main" id="{470A0BD2-4984-4005-9801-3E0EE70D436C}"/>
              </a:ext>
            </a:extLst>
          </p:cNvPr>
          <p:cNvSpPr>
            <a:spLocks noGrp="1"/>
          </p:cNvSpPr>
          <p:nvPr/>
        </p:nvSpPr>
        <p:spPr>
          <a:xfrm>
            <a:off x="6629400" y="22479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6A085"/>
                </a:solidFill>
              </a:defRPr>
            </a:pPr>
            <a:r>
              <a:rPr sz="1350" b="1">
                <a:solidFill>
                  <a:srgbClr val="16A085"/>
                </a:solidFill>
              </a:rPr>
              <a:t>2</a:t>
            </a:r>
          </a:p>
        </p:txBody>
      </p:sp>
      <p:sp>
        <p:nvSpPr>
          <p:cNvPr id="85" name="step-2-label">
            <a:extLst>
              <a:ext uri="{FF2B5EF4-FFF2-40B4-BE49-F238E27FC236}">
                <a16:creationId xmlns:a16="http://schemas.microsoft.com/office/drawing/2014/main" id="{B3707D8B-A851-493A-B07A-4BA71867F85B}"/>
              </a:ext>
            </a:extLst>
          </p:cNvPr>
          <p:cNvSpPr>
            <a:spLocks noGrp="1"/>
          </p:cNvSpPr>
          <p:nvPr/>
        </p:nvSpPr>
        <p:spPr>
          <a:xfrm>
            <a:off x="6934200" y="2286000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quiz + answer key</a:t>
            </a:r>
          </a:p>
        </p:txBody>
      </p:sp>
      <p:sp>
        <p:nvSpPr>
          <p:cNvPr id="86" name="step-3">
            <a:extLst>
              <a:ext uri="{FF2B5EF4-FFF2-40B4-BE49-F238E27FC236}">
                <a16:creationId xmlns:a16="http://schemas.microsoft.com/office/drawing/2014/main" id="{8D070CAE-F6F6-45CC-80B5-67F8BC62CB54}"/>
              </a:ext>
            </a:extLst>
          </p:cNvPr>
          <p:cNvSpPr>
            <a:spLocks noGrp="1"/>
          </p:cNvSpPr>
          <p:nvPr/>
        </p:nvSpPr>
        <p:spPr>
          <a:xfrm>
            <a:off x="6515100" y="2876550"/>
            <a:ext cx="1638300" cy="514350"/>
          </a:xfrm>
          <a:prstGeom prst="roundRect">
            <a:avLst>
              <a:gd name="adj" fmla="val 22222"/>
            </a:avLst>
          </a:prstGeom>
          <a:solidFill>
            <a:srgbClr val="FFF3D8"/>
          </a:solidFill>
          <a:ln w="9525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tep-3-n">
            <a:extLst>
              <a:ext uri="{FF2B5EF4-FFF2-40B4-BE49-F238E27FC236}">
                <a16:creationId xmlns:a16="http://schemas.microsoft.com/office/drawing/2014/main" id="{C5892384-1E3D-4E5C-AE6F-EAF62F0D401C}"/>
              </a:ext>
            </a:extLst>
          </p:cNvPr>
          <p:cNvSpPr>
            <a:spLocks noGrp="1"/>
          </p:cNvSpPr>
          <p:nvPr/>
        </p:nvSpPr>
        <p:spPr>
          <a:xfrm>
            <a:off x="6629400" y="2971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88" name="step-3-label">
            <a:extLst>
              <a:ext uri="{FF2B5EF4-FFF2-40B4-BE49-F238E27FC236}">
                <a16:creationId xmlns:a16="http://schemas.microsoft.com/office/drawing/2014/main" id="{6E0FC003-8ED9-4C7D-A383-6047C5E6B05C}"/>
              </a:ext>
            </a:extLst>
          </p:cNvPr>
          <p:cNvSpPr>
            <a:spLocks noGrp="1"/>
          </p:cNvSpPr>
          <p:nvPr/>
        </p:nvSpPr>
        <p:spPr>
          <a:xfrm>
            <a:off x="6934200" y="3009900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topic retake</a:t>
            </a:r>
          </a:p>
        </p:txBody>
      </p:sp>
      <p:sp>
        <p:nvSpPr>
          <p:cNvPr id="89" name="s3-bottom">
            <a:extLst>
              <a:ext uri="{FF2B5EF4-FFF2-40B4-BE49-F238E27FC236}">
                <a16:creationId xmlns:a16="http://schemas.microsoft.com/office/drawing/2014/main" id="{64CDEDE0-F16B-47DD-9F6E-2EC7C7589B79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Design principle: every important claim must either cite a slide, cite research, or admit uncertainty.</a:t>
            </a:r>
          </a:p>
        </p:txBody>
      </p:sp>
    </p:spTree>
    <p:extLst>
      <p:ext uri="{BB962C8B-B14F-4D97-AF65-F5344CB8AC3E}">
        <p14:creationId xmlns:p14="http://schemas.microsoft.com/office/powerpoint/2010/main" val="159297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85B851F8-3F80-4258-937A-6CE3B485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04800"/>
            <a:ext cx="8191500" cy="4381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9771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Why this project matters: slides hide meaning in visuals</a:t>
            </a:r>
            <a:endParaRPr/>
          </a:p>
        </p:txBody>
      </p:sp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FD9C9FF7-70A1-44D5-837A-E8AC2A931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838200"/>
            <a:ext cx="7239000" cy="34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25000" lnSpcReduction="20000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657084"/>
                </a:solidFill>
              </a:defRPr>
            </a:pPr>
            <a:r>
              <a:rPr sz="4000" dirty="0">
                <a:solidFill>
                  <a:srgbClr val="657084"/>
                </a:solidFill>
              </a:rPr>
              <a:t>The text layer is real, but it often omits the reason a slide was shown</a:t>
            </a:r>
            <a:r>
              <a:rPr sz="1350" dirty="0">
                <a:solidFill>
                  <a:srgbClr val="657084"/>
                </a:solidFill>
              </a:rPr>
              <a:t>.</a:t>
            </a:r>
            <a:endParaRPr dirty="0"/>
          </a:p>
        </p:txBody>
      </p:sp>
      <p:sp>
        <p:nvSpPr>
          <p:cNvPr id="79" name="s4-card-0">
            <a:extLst>
              <a:ext uri="{FF2B5EF4-FFF2-40B4-BE49-F238E27FC236}">
                <a16:creationId xmlns:a16="http://schemas.microsoft.com/office/drawing/2014/main" id="{8B62B761-6486-4CA4-BD2A-24173024BB32}"/>
              </a:ext>
            </a:extLst>
          </p:cNvPr>
          <p:cNvSpPr>
            <a:spLocks noGrp="1"/>
          </p:cNvSpPr>
          <p:nvPr/>
        </p:nvSpPr>
        <p:spPr>
          <a:xfrm>
            <a:off x="457200" y="1409700"/>
            <a:ext cx="25146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3"/>
          <a:srcRect t="192" b="192"/>
          <a:stretch>
            <a:fillRect/>
          </a:stretch>
        </p:blipFill>
        <p:spPr>
          <a:xfrm>
            <a:off x="609600" y="1562100"/>
            <a:ext cx="2209800" cy="1238250"/>
          </a:xfrm>
          <a:prstGeom prst="roundRect">
            <a:avLst>
              <a:gd name="adj" fmla="val 9231"/>
            </a:avLst>
          </a:prstGeom>
        </p:spPr>
      </p:pic>
      <p:sp>
        <p:nvSpPr>
          <p:cNvPr id="81" name="s4-tag-0-tag">
            <a:extLst>
              <a:ext uri="{FF2B5EF4-FFF2-40B4-BE49-F238E27FC236}">
                <a16:creationId xmlns:a16="http://schemas.microsoft.com/office/drawing/2014/main" id="{B2E280EA-41A3-45B7-9DC5-4D56BA32FABC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Figure definition</a:t>
            </a:r>
          </a:p>
        </p:txBody>
      </p:sp>
      <p:sp>
        <p:nvSpPr>
          <p:cNvPr id="82" name="s4-body-0">
            <a:extLst>
              <a:ext uri="{FF2B5EF4-FFF2-40B4-BE49-F238E27FC236}">
                <a16:creationId xmlns:a16="http://schemas.microsoft.com/office/drawing/2014/main" id="{4B59A447-7041-4394-9C7D-0276D0ADC1FF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172033"/>
                </a:solidFill>
              </a:defRPr>
            </a:pPr>
            <a:r>
              <a:rPr sz="1050">
                <a:solidFill>
                  <a:srgbClr val="172033"/>
                </a:solidFill>
              </a:rPr>
              <a:t>sensors + actuators vanish from extracted text</a:t>
            </a:r>
          </a:p>
        </p:txBody>
      </p:sp>
      <p:sp>
        <p:nvSpPr>
          <p:cNvPr id="83" name="s4-card-1">
            <a:extLst>
              <a:ext uri="{FF2B5EF4-FFF2-40B4-BE49-F238E27FC236}">
                <a16:creationId xmlns:a16="http://schemas.microsoft.com/office/drawing/2014/main" id="{7BDEE4DE-D229-4A96-B63A-DA91D8141E6F}"/>
              </a:ext>
            </a:extLst>
          </p:cNvPr>
          <p:cNvSpPr>
            <a:spLocks noGrp="1"/>
          </p:cNvSpPr>
          <p:nvPr/>
        </p:nvSpPr>
        <p:spPr>
          <a:xfrm>
            <a:off x="3314700" y="1409700"/>
            <a:ext cx="25146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4"/>
          <a:srcRect t="192" b="192"/>
          <a:stretch>
            <a:fillRect/>
          </a:stretch>
        </p:blipFill>
        <p:spPr>
          <a:xfrm>
            <a:off x="3467100" y="1562100"/>
            <a:ext cx="2209800" cy="1238250"/>
          </a:xfrm>
          <a:prstGeom prst="roundRect">
            <a:avLst>
              <a:gd name="adj" fmla="val 9231"/>
            </a:avLst>
          </a:prstGeom>
        </p:spPr>
      </p:pic>
      <p:sp>
        <p:nvSpPr>
          <p:cNvPr id="85" name="s4-tag-1-tag">
            <a:extLst>
              <a:ext uri="{FF2B5EF4-FFF2-40B4-BE49-F238E27FC236}">
                <a16:creationId xmlns:a16="http://schemas.microsoft.com/office/drawing/2014/main" id="{28721F1A-8680-466C-9293-8335DD1FC29A}"/>
              </a:ext>
            </a:extLst>
          </p:cNvPr>
          <p:cNvSpPr>
            <a:spLocks noGrp="1"/>
          </p:cNvSpPr>
          <p:nvPr/>
        </p:nvSpPr>
        <p:spPr>
          <a:xfrm>
            <a:off x="3600450" y="295275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E6FBF8"/>
          </a:solidFill>
          <a:ln w="9525">
            <a:solidFill>
              <a:srgbClr val="E6FBF8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6A085"/>
                </a:solidFill>
              </a:defRPr>
            </a:pPr>
            <a:r>
              <a:rPr sz="900" b="1">
                <a:solidFill>
                  <a:srgbClr val="16A085"/>
                </a:solidFill>
              </a:rPr>
              <a:t>Chart ranking</a:t>
            </a:r>
          </a:p>
        </p:txBody>
      </p:sp>
      <p:sp>
        <p:nvSpPr>
          <p:cNvPr id="86" name="s4-body-1">
            <a:extLst>
              <a:ext uri="{FF2B5EF4-FFF2-40B4-BE49-F238E27FC236}">
                <a16:creationId xmlns:a16="http://schemas.microsoft.com/office/drawing/2014/main" id="{96A44CF6-40B7-4405-967D-3CF75A795B11}"/>
              </a:ext>
            </a:extLst>
          </p:cNvPr>
          <p:cNvSpPr>
            <a:spLocks noGrp="1"/>
          </p:cNvSpPr>
          <p:nvPr/>
        </p:nvSpPr>
        <p:spPr>
          <a:xfrm>
            <a:off x="3581400" y="333375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172033"/>
                </a:solidFill>
              </a:defRPr>
            </a:pPr>
            <a:r>
              <a:rPr sz="1050">
                <a:solidFill>
                  <a:srgbClr val="172033"/>
                </a:solidFill>
              </a:rPr>
              <a:t>the CLIP dominance lives in bar height</a:t>
            </a:r>
          </a:p>
        </p:txBody>
      </p:sp>
      <p:sp>
        <p:nvSpPr>
          <p:cNvPr id="87" name="s4-card-2">
            <a:extLst>
              <a:ext uri="{FF2B5EF4-FFF2-40B4-BE49-F238E27FC236}">
                <a16:creationId xmlns:a16="http://schemas.microsoft.com/office/drawing/2014/main" id="{F59B4BF9-C66A-453C-B2C0-37AD5240EFC2}"/>
              </a:ext>
            </a:extLst>
          </p:cNvPr>
          <p:cNvSpPr>
            <a:spLocks noGrp="1"/>
          </p:cNvSpPr>
          <p:nvPr/>
        </p:nvSpPr>
        <p:spPr>
          <a:xfrm>
            <a:off x="6172200" y="1409700"/>
            <a:ext cx="25146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5"/>
          <a:srcRect t="192" b="192"/>
          <a:stretch>
            <a:fillRect/>
          </a:stretch>
        </p:blipFill>
        <p:spPr>
          <a:xfrm>
            <a:off x="6324600" y="1562100"/>
            <a:ext cx="2209800" cy="1238250"/>
          </a:xfrm>
          <a:prstGeom prst="roundRect">
            <a:avLst>
              <a:gd name="adj" fmla="val 9231"/>
            </a:avLst>
          </a:prstGeom>
        </p:spPr>
      </p:pic>
      <p:sp>
        <p:nvSpPr>
          <p:cNvPr id="89" name="s4-tag-2-tag">
            <a:extLst>
              <a:ext uri="{FF2B5EF4-FFF2-40B4-BE49-F238E27FC236}">
                <a16:creationId xmlns:a16="http://schemas.microsoft.com/office/drawing/2014/main" id="{FBEA9B4D-6320-4207-9F90-C7AA43AD9A8E}"/>
              </a:ext>
            </a:extLst>
          </p:cNvPr>
          <p:cNvSpPr>
            <a:spLocks noGrp="1"/>
          </p:cNvSpPr>
          <p:nvPr/>
        </p:nvSpPr>
        <p:spPr>
          <a:xfrm>
            <a:off x="6457950" y="295275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FFF3D8"/>
          </a:solidFill>
          <a:ln w="9525">
            <a:solidFill>
              <a:srgbClr val="FFF3D8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5A524"/>
                </a:solidFill>
              </a:defRPr>
            </a:pPr>
            <a:r>
              <a:rPr sz="900" b="1">
                <a:solidFill>
                  <a:srgbClr val="F5A524"/>
                </a:solidFill>
              </a:rPr>
              <a:t>Retrieval comparison</a:t>
            </a:r>
          </a:p>
        </p:txBody>
      </p:sp>
      <p:sp>
        <p:nvSpPr>
          <p:cNvPr id="90" name="s4-body-2">
            <a:extLst>
              <a:ext uri="{FF2B5EF4-FFF2-40B4-BE49-F238E27FC236}">
                <a16:creationId xmlns:a16="http://schemas.microsoft.com/office/drawing/2014/main" id="{75F65A83-D6F5-4146-9F1C-A2D1161F7B44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172033"/>
                </a:solidFill>
              </a:defRPr>
            </a:pPr>
            <a:r>
              <a:rPr sz="1050">
                <a:solidFill>
                  <a:srgbClr val="172033"/>
                </a:solidFill>
              </a:rPr>
              <a:t>slide 56 extracts to zero characters</a:t>
            </a:r>
          </a:p>
        </p:txBody>
      </p:sp>
      <p:sp>
        <p:nvSpPr>
          <p:cNvPr id="91" name="s4-note">
            <a:extLst>
              <a:ext uri="{FF2B5EF4-FFF2-40B4-BE49-F238E27FC236}">
                <a16:creationId xmlns:a16="http://schemas.microsoft.com/office/drawing/2014/main" id="{3E0DD6E1-6513-4548-BEA3-1F6A564EAEC9}"/>
              </a:ext>
            </a:extLst>
          </p:cNvPr>
          <p:cNvSpPr>
            <a:spLocks noGrp="1"/>
          </p:cNvSpPr>
          <p:nvPr/>
        </p:nvSpPr>
        <p:spPr>
          <a:xfrm>
            <a:off x="1238250" y="41719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06449"/>
                </a:solidFill>
              </a:defRPr>
            </a:pPr>
            <a:r>
              <a:rPr sz="1350" b="1">
                <a:solidFill>
                  <a:srgbClr val="F06449"/>
                </a:solidFill>
              </a:rPr>
              <a:t>The evaluation is deliberately small but sharp: three strong figure-only facts plus one known weak case.</a:t>
            </a:r>
          </a:p>
        </p:txBody>
      </p:sp>
    </p:spTree>
    <p:extLst>
      <p:ext uri="{BB962C8B-B14F-4D97-AF65-F5344CB8AC3E}">
        <p14:creationId xmlns:p14="http://schemas.microsoft.com/office/powerpoint/2010/main" val="197680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CC09D977-60D7-431C-8124-42E90541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04800"/>
            <a:ext cx="8382000" cy="4381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9771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How we build it: one run, two paths, written artifacts</a:t>
            </a:r>
            <a:endParaRPr/>
          </a:p>
        </p:txBody>
      </p:sp>
      <p:sp>
        <p:nvSpPr>
          <p:cNvPr id="84" name="Google Shape;84;p18">
            <a:extLst>
              <a:ext uri="{FF2B5EF4-FFF2-40B4-BE49-F238E27FC236}">
                <a16:creationId xmlns:a16="http://schemas.microsoft.com/office/drawing/2014/main" id="{F7AF5B2D-F267-4B12-B030-8E21BFA97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819150"/>
            <a:ext cx="8001000" cy="34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275">
                <a:solidFill>
                  <a:srgbClr val="657084"/>
                </a:solidFill>
              </a:defRPr>
            </a:pPr>
            <a:r>
              <a:rPr sz="1000" dirty="0">
                <a:solidFill>
                  <a:srgbClr val="657084"/>
                </a:solidFill>
              </a:rPr>
              <a:t>The image path is the system. The text path is a baseline that shares the same model, prompt, and schema.</a:t>
            </a:r>
            <a:endParaRPr sz="1000" dirty="0"/>
          </a:p>
        </p:txBody>
      </p:sp>
      <p:sp>
        <p:nvSpPr>
          <p:cNvPr id="85" name="s5-spine">
            <a:extLst>
              <a:ext uri="{FF2B5EF4-FFF2-40B4-BE49-F238E27FC236}">
                <a16:creationId xmlns:a16="http://schemas.microsoft.com/office/drawing/2014/main" id="{25CC7043-0DA3-4035-B035-6AEB37E972A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7753350" cy="2857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5-stage-0">
            <a:extLst>
              <a:ext uri="{FF2B5EF4-FFF2-40B4-BE49-F238E27FC236}">
                <a16:creationId xmlns:a16="http://schemas.microsoft.com/office/drawing/2014/main" id="{78303D92-73CA-48C8-A520-6A7B2A114BB2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933450" cy="5715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5-stage-text-0">
            <a:extLst>
              <a:ext uri="{FF2B5EF4-FFF2-40B4-BE49-F238E27FC236}">
                <a16:creationId xmlns:a16="http://schemas.microsoft.com/office/drawing/2014/main" id="{FEC6F285-1C07-47E5-AD44-A92825790E6B}"/>
              </a:ext>
            </a:extLst>
          </p:cNvPr>
          <p:cNvSpPr>
            <a:spLocks noGrp="1"/>
          </p:cNvSpPr>
          <p:nvPr/>
        </p:nvSpPr>
        <p:spPr>
          <a:xfrm>
            <a:off x="476250" y="1390650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867F0"/>
                </a:solidFill>
              </a:defRPr>
            </a:pPr>
            <a:r>
              <a:rPr sz="1050" b="1">
                <a:solidFill>
                  <a:srgbClr val="2867F0"/>
                </a:solidFill>
              </a:rPr>
              <a:t>render</a:t>
            </a:r>
          </a:p>
        </p:txBody>
      </p:sp>
      <p:sp>
        <p:nvSpPr>
          <p:cNvPr id="88" name="s5-stage-1">
            <a:extLst>
              <a:ext uri="{FF2B5EF4-FFF2-40B4-BE49-F238E27FC236}">
                <a16:creationId xmlns:a16="http://schemas.microsoft.com/office/drawing/2014/main" id="{94A3BBAD-0E9E-4438-A8C4-555F45EE56CE}"/>
              </a:ext>
            </a:extLst>
          </p:cNvPr>
          <p:cNvSpPr>
            <a:spLocks noGrp="1"/>
          </p:cNvSpPr>
          <p:nvPr/>
        </p:nvSpPr>
        <p:spPr>
          <a:xfrm>
            <a:off x="1638300" y="1257300"/>
            <a:ext cx="933450" cy="5715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5-stage-text-1">
            <a:extLst>
              <a:ext uri="{FF2B5EF4-FFF2-40B4-BE49-F238E27FC236}">
                <a16:creationId xmlns:a16="http://schemas.microsoft.com/office/drawing/2014/main" id="{F474F563-7E77-4C73-9595-68338797B51E}"/>
              </a:ext>
            </a:extLst>
          </p:cNvPr>
          <p:cNvSpPr>
            <a:spLocks noGrp="1"/>
          </p:cNvSpPr>
          <p:nvPr/>
        </p:nvSpPr>
        <p:spPr>
          <a:xfrm>
            <a:off x="1714500" y="1390650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867F0"/>
                </a:solidFill>
              </a:defRPr>
            </a:pPr>
            <a:r>
              <a:rPr sz="1050" b="1">
                <a:solidFill>
                  <a:srgbClr val="2867F0"/>
                </a:solidFill>
              </a:rPr>
              <a:t>page</a:t>
            </a:r>
          </a:p>
          <a:p>
            <a:pPr algn="ctr">
              <a:defRPr sz="1050" b="1">
                <a:solidFill>
                  <a:srgbClr val="2867F0"/>
                </a:solidFill>
              </a:defRPr>
            </a:pPr>
            <a:r>
              <a:rPr sz="1050" b="1">
                <a:solidFill>
                  <a:srgbClr val="2867F0"/>
                </a:solidFill>
              </a:rPr>
              <a:t>reader</a:t>
            </a:r>
          </a:p>
        </p:txBody>
      </p:sp>
      <p:sp>
        <p:nvSpPr>
          <p:cNvPr id="90" name="s5-stage-2">
            <a:extLst>
              <a:ext uri="{FF2B5EF4-FFF2-40B4-BE49-F238E27FC236}">
                <a16:creationId xmlns:a16="http://schemas.microsoft.com/office/drawing/2014/main" id="{7B337C2D-D613-49B5-A567-BF8A4622CF06}"/>
              </a:ext>
            </a:extLst>
          </p:cNvPr>
          <p:cNvSpPr>
            <a:spLocks noGrp="1"/>
          </p:cNvSpPr>
          <p:nvPr/>
        </p:nvSpPr>
        <p:spPr>
          <a:xfrm>
            <a:off x="2876550" y="1257300"/>
            <a:ext cx="933450" cy="5715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5-stage-text-2">
            <a:extLst>
              <a:ext uri="{FF2B5EF4-FFF2-40B4-BE49-F238E27FC236}">
                <a16:creationId xmlns:a16="http://schemas.microsoft.com/office/drawing/2014/main" id="{A76FB9CD-DA1D-4DAD-9AD4-B1C8D50538F6}"/>
              </a:ext>
            </a:extLst>
          </p:cNvPr>
          <p:cNvSpPr>
            <a:spLocks noGrp="1"/>
          </p:cNvSpPr>
          <p:nvPr/>
        </p:nvSpPr>
        <p:spPr>
          <a:xfrm>
            <a:off x="2952750" y="1390650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867F0"/>
                </a:solidFill>
              </a:defRPr>
            </a:pPr>
            <a:r>
              <a:rPr sz="1050" b="1">
                <a:solidFill>
                  <a:srgbClr val="2867F0"/>
                </a:solidFill>
              </a:rPr>
              <a:t>outline</a:t>
            </a:r>
          </a:p>
        </p:txBody>
      </p:sp>
      <p:sp>
        <p:nvSpPr>
          <p:cNvPr id="92" name="s5-stage-3">
            <a:extLst>
              <a:ext uri="{FF2B5EF4-FFF2-40B4-BE49-F238E27FC236}">
                <a16:creationId xmlns:a16="http://schemas.microsoft.com/office/drawing/2014/main" id="{E62101C4-C9F2-422A-800D-49F03E6BFD59}"/>
              </a:ext>
            </a:extLst>
          </p:cNvPr>
          <p:cNvSpPr>
            <a:spLocks noGrp="1"/>
          </p:cNvSpPr>
          <p:nvPr/>
        </p:nvSpPr>
        <p:spPr>
          <a:xfrm>
            <a:off x="4114800" y="1257300"/>
            <a:ext cx="933450" cy="5715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5-stage-text-3">
            <a:extLst>
              <a:ext uri="{FF2B5EF4-FFF2-40B4-BE49-F238E27FC236}">
                <a16:creationId xmlns:a16="http://schemas.microsoft.com/office/drawing/2014/main" id="{1E904865-03F5-489A-A028-A52BCC3FB3BA}"/>
              </a:ext>
            </a:extLst>
          </p:cNvPr>
          <p:cNvSpPr>
            <a:spLocks noGrp="1"/>
          </p:cNvSpPr>
          <p:nvPr/>
        </p:nvSpPr>
        <p:spPr>
          <a:xfrm>
            <a:off x="4191000" y="1390650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867F0"/>
                </a:solidFill>
              </a:defRPr>
            </a:pPr>
            <a:r>
              <a:rPr sz="1050" b="1">
                <a:solidFill>
                  <a:srgbClr val="2867F0"/>
                </a:solidFill>
              </a:rPr>
              <a:t>research</a:t>
            </a:r>
          </a:p>
        </p:txBody>
      </p:sp>
      <p:sp>
        <p:nvSpPr>
          <p:cNvPr id="94" name="s5-stage-4">
            <a:extLst>
              <a:ext uri="{FF2B5EF4-FFF2-40B4-BE49-F238E27FC236}">
                <a16:creationId xmlns:a16="http://schemas.microsoft.com/office/drawing/2014/main" id="{3733583C-04E2-4E9E-BD38-BF2303ED6D1E}"/>
              </a:ext>
            </a:extLst>
          </p:cNvPr>
          <p:cNvSpPr>
            <a:spLocks noGrp="1"/>
          </p:cNvSpPr>
          <p:nvPr/>
        </p:nvSpPr>
        <p:spPr>
          <a:xfrm>
            <a:off x="5353050" y="1257300"/>
            <a:ext cx="933450" cy="5715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5-stage-text-4">
            <a:extLst>
              <a:ext uri="{FF2B5EF4-FFF2-40B4-BE49-F238E27FC236}">
                <a16:creationId xmlns:a16="http://schemas.microsoft.com/office/drawing/2014/main" id="{DF9004BB-30DD-43F0-A57B-C7CD819D5AF6}"/>
              </a:ext>
            </a:extLst>
          </p:cNvPr>
          <p:cNvSpPr>
            <a:spLocks noGrp="1"/>
          </p:cNvSpPr>
          <p:nvPr/>
        </p:nvSpPr>
        <p:spPr>
          <a:xfrm>
            <a:off x="5429250" y="1390650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867F0"/>
                </a:solidFill>
              </a:defRPr>
            </a:pPr>
            <a:r>
              <a:rPr sz="1050" b="1">
                <a:solidFill>
                  <a:srgbClr val="2867F0"/>
                </a:solidFill>
              </a:rPr>
              <a:t>review</a:t>
            </a:r>
          </a:p>
        </p:txBody>
      </p:sp>
      <p:sp>
        <p:nvSpPr>
          <p:cNvPr id="96" name="s5-stage-5">
            <a:extLst>
              <a:ext uri="{FF2B5EF4-FFF2-40B4-BE49-F238E27FC236}">
                <a16:creationId xmlns:a16="http://schemas.microsoft.com/office/drawing/2014/main" id="{080E4A97-1980-492F-BB25-20725B68FA09}"/>
              </a:ext>
            </a:extLst>
          </p:cNvPr>
          <p:cNvSpPr>
            <a:spLocks noGrp="1"/>
          </p:cNvSpPr>
          <p:nvPr/>
        </p:nvSpPr>
        <p:spPr>
          <a:xfrm>
            <a:off x="6591300" y="1257300"/>
            <a:ext cx="933450" cy="571500"/>
          </a:xfrm>
          <a:prstGeom prst="roundRect">
            <a:avLst>
              <a:gd name="adj" fmla="val 20000"/>
            </a:avLst>
          </a:prstGeom>
          <a:solidFill>
            <a:srgbClr val="FFF3D8"/>
          </a:solidFill>
          <a:ln w="9525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5-stage-text-5">
            <a:extLst>
              <a:ext uri="{FF2B5EF4-FFF2-40B4-BE49-F238E27FC236}">
                <a16:creationId xmlns:a16="http://schemas.microsoft.com/office/drawing/2014/main" id="{721C0F48-E1E3-406A-9ECC-0B1446C34F00}"/>
              </a:ext>
            </a:extLst>
          </p:cNvPr>
          <p:cNvSpPr>
            <a:spLocks noGrp="1"/>
          </p:cNvSpPr>
          <p:nvPr/>
        </p:nvSpPr>
        <p:spPr>
          <a:xfrm>
            <a:off x="6667500" y="1390650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5A524"/>
                </a:solidFill>
              </a:defRPr>
            </a:pPr>
            <a:r>
              <a:rPr sz="1050" b="1">
                <a:solidFill>
                  <a:srgbClr val="F5A524"/>
                </a:solidFill>
              </a:rPr>
              <a:t>quiz</a:t>
            </a:r>
          </a:p>
        </p:txBody>
      </p:sp>
      <p:sp>
        <p:nvSpPr>
          <p:cNvPr id="98" name="s5-stage-6">
            <a:extLst>
              <a:ext uri="{FF2B5EF4-FFF2-40B4-BE49-F238E27FC236}">
                <a16:creationId xmlns:a16="http://schemas.microsoft.com/office/drawing/2014/main" id="{FCF5426D-DB98-44CE-AAC1-CC3CDCBFECC1}"/>
              </a:ext>
            </a:extLst>
          </p:cNvPr>
          <p:cNvSpPr>
            <a:spLocks noGrp="1"/>
          </p:cNvSpPr>
          <p:nvPr/>
        </p:nvSpPr>
        <p:spPr>
          <a:xfrm>
            <a:off x="7829550" y="1257300"/>
            <a:ext cx="933450" cy="571500"/>
          </a:xfrm>
          <a:prstGeom prst="roundRect">
            <a:avLst>
              <a:gd name="adj" fmla="val 20000"/>
            </a:avLst>
          </a:prstGeom>
          <a:solidFill>
            <a:srgbClr val="F1ECFF"/>
          </a:solidFill>
          <a:ln w="9525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5-stage-text-6">
            <a:extLst>
              <a:ext uri="{FF2B5EF4-FFF2-40B4-BE49-F238E27FC236}">
                <a16:creationId xmlns:a16="http://schemas.microsoft.com/office/drawing/2014/main" id="{AB769183-B398-419D-8305-FAFD3F4B4ACE}"/>
              </a:ext>
            </a:extLst>
          </p:cNvPr>
          <p:cNvSpPr>
            <a:spLocks noGrp="1"/>
          </p:cNvSpPr>
          <p:nvPr/>
        </p:nvSpPr>
        <p:spPr>
          <a:xfrm>
            <a:off x="7905750" y="1390650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7D4CDB"/>
                </a:solidFill>
              </a:defRPr>
            </a:pPr>
            <a:r>
              <a:rPr sz="1050" b="1">
                <a:solidFill>
                  <a:srgbClr val="7D4CDB"/>
                </a:solidFill>
              </a:rPr>
              <a:t>memory</a:t>
            </a:r>
          </a:p>
        </p:txBody>
      </p:sp>
      <p:sp>
        <p:nvSpPr>
          <p:cNvPr id="100" name="s5-image-lane">
            <a:extLst>
              <a:ext uri="{FF2B5EF4-FFF2-40B4-BE49-F238E27FC236}">
                <a16:creationId xmlns:a16="http://schemas.microsoft.com/office/drawing/2014/main" id="{97BFA035-A671-4EDB-898E-14BAF9AFD500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3524250" cy="1485900"/>
          </a:xfrm>
          <a:prstGeom prst="roundRect">
            <a:avLst>
              <a:gd name="adj" fmla="val 7692"/>
            </a:avLst>
          </a:prstGeom>
          <a:solidFill>
            <a:srgbClr val="EDF7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5-image-title">
            <a:extLst>
              <a:ext uri="{FF2B5EF4-FFF2-40B4-BE49-F238E27FC236}">
                <a16:creationId xmlns:a16="http://schemas.microsoft.com/office/drawing/2014/main" id="{D261B681-FD70-4DE4-A670-F8CC98349A4C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867F0"/>
                </a:solidFill>
              </a:defRPr>
            </a:pPr>
            <a:r>
              <a:rPr sz="1200" b="1">
                <a:solidFill>
                  <a:srgbClr val="2867F0"/>
                </a:solidFill>
              </a:rPr>
              <a:t>IMAGE PATH</a:t>
            </a:r>
          </a:p>
        </p:txBody>
      </p:sp>
      <p:sp>
        <p:nvSpPr>
          <p:cNvPr id="102" name="s5-image-body">
            <a:extLst>
              <a:ext uri="{FF2B5EF4-FFF2-40B4-BE49-F238E27FC236}">
                <a16:creationId xmlns:a16="http://schemas.microsoft.com/office/drawing/2014/main" id="{3B49DEED-89B5-4E57-859E-A3E2FBAE338B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Produces review-image.md, quiz.json, and the deck contribution to memory.</a:t>
            </a:r>
          </a:p>
        </p:txBody>
      </p:sp>
      <p:sp>
        <p:nvSpPr>
          <p:cNvPr id="103" name="s5-text-lane">
            <a:extLst>
              <a:ext uri="{FF2B5EF4-FFF2-40B4-BE49-F238E27FC236}">
                <a16:creationId xmlns:a16="http://schemas.microsoft.com/office/drawing/2014/main" id="{761E10FF-7567-4509-BEB1-3B6FB4BDD556}"/>
              </a:ext>
            </a:extLst>
          </p:cNvPr>
          <p:cNvSpPr>
            <a:spLocks noGrp="1"/>
          </p:cNvSpPr>
          <p:nvPr/>
        </p:nvSpPr>
        <p:spPr>
          <a:xfrm>
            <a:off x="4895850" y="2266950"/>
            <a:ext cx="3524250" cy="148590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9525">
            <a:solidFill>
              <a:srgbClr val="CD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5-text-title">
            <a:extLst>
              <a:ext uri="{FF2B5EF4-FFF2-40B4-BE49-F238E27FC236}">
                <a16:creationId xmlns:a16="http://schemas.microsoft.com/office/drawing/2014/main" id="{712023AD-38D8-4553-9953-5897C9CE3CA2}"/>
              </a:ext>
            </a:extLst>
          </p:cNvPr>
          <p:cNvSpPr>
            <a:spLocks noGrp="1"/>
          </p:cNvSpPr>
          <p:nvPr/>
        </p:nvSpPr>
        <p:spPr>
          <a:xfrm>
            <a:off x="5124450" y="2457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57084"/>
                </a:solidFill>
              </a:defRPr>
            </a:pPr>
            <a:r>
              <a:rPr sz="1200" b="1">
                <a:solidFill>
                  <a:srgbClr val="657084"/>
                </a:solidFill>
              </a:rPr>
              <a:t>TEXT BASELINE</a:t>
            </a:r>
          </a:p>
        </p:txBody>
      </p:sp>
      <p:sp>
        <p:nvSpPr>
          <p:cNvPr id="105" name="s5-text-body">
            <a:extLst>
              <a:ext uri="{FF2B5EF4-FFF2-40B4-BE49-F238E27FC236}">
                <a16:creationId xmlns:a16="http://schemas.microsoft.com/office/drawing/2014/main" id="{EDAE8CC2-0FCF-4020-9485-7EE14AC56DC7}"/>
              </a:ext>
            </a:extLst>
          </p:cNvPr>
          <p:cNvSpPr>
            <a:spLocks noGrp="1"/>
          </p:cNvSpPr>
          <p:nvPr/>
        </p:nvSpPr>
        <p:spPr>
          <a:xfrm>
            <a:off x="5124450" y="2857500"/>
            <a:ext cx="295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72033"/>
                </a:solidFill>
              </a:defRPr>
            </a:pPr>
            <a:r>
              <a:rPr sz="1275">
                <a:solidFill>
                  <a:srgbClr val="172033"/>
                </a:solidFill>
              </a:rPr>
              <a:t>Stops after review-text.md, so the comparison isolates input modality without double-counting exposure.</a:t>
            </a:r>
          </a:p>
        </p:txBody>
      </p:sp>
      <p:sp>
        <p:nvSpPr>
          <p:cNvPr id="106" name="s5-status-tag">
            <a:extLst>
              <a:ext uri="{FF2B5EF4-FFF2-40B4-BE49-F238E27FC236}">
                <a16:creationId xmlns:a16="http://schemas.microsoft.com/office/drawing/2014/main" id="{ACA47230-93C4-4FB5-943D-EBB5B647C57A}"/>
              </a:ext>
            </a:extLst>
          </p:cNvPr>
          <p:cNvSpPr>
            <a:spLocks noGrp="1"/>
          </p:cNvSpPr>
          <p:nvPr/>
        </p:nvSpPr>
        <p:spPr>
          <a:xfrm>
            <a:off x="1562100" y="4095750"/>
            <a:ext cx="6019800" cy="323850"/>
          </a:xfrm>
          <a:prstGeom prst="roundRect">
            <a:avLst>
              <a:gd name="adj" fmla="val 23529"/>
            </a:avLst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implemented now: schemas · render/preflight · paths · config · tests</a:t>
            </a:r>
          </a:p>
        </p:txBody>
      </p:sp>
    </p:spTree>
    <p:extLst>
      <p:ext uri="{BB962C8B-B14F-4D97-AF65-F5344CB8AC3E}">
        <p14:creationId xmlns:p14="http://schemas.microsoft.com/office/powerpoint/2010/main" val="61460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>
            <a:extLst>
              <a:ext uri="{FF2B5EF4-FFF2-40B4-BE49-F238E27FC236}">
                <a16:creationId xmlns:a16="http://schemas.microsoft.com/office/drawing/2014/main" id="{F66F2FA9-596A-4161-BD96-EB05E336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23850"/>
            <a:ext cx="8001000" cy="4381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702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Demo and evaluation: prove the modality claim</a:t>
            </a:r>
            <a:endParaRPr/>
          </a:p>
        </p:txBody>
      </p:sp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044783BD-CEFE-4685-84A7-D6C59AEC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838200"/>
            <a:ext cx="7810500" cy="34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10000"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275">
                <a:solidFill>
                  <a:srgbClr val="657084"/>
                </a:solidFill>
              </a:defRPr>
            </a:pPr>
            <a:r>
              <a:rPr sz="1275">
                <a:solidFill>
                  <a:srgbClr val="657084"/>
                </a:solidFill>
              </a:rPr>
              <a:t>The demo can replay saved artifacts; the evaluation checks whether visual facts survive into notes and citations.</a:t>
            </a:r>
            <a:endParaRPr/>
          </a:p>
        </p:txBody>
      </p:sp>
      <p:sp>
        <p:nvSpPr>
          <p:cNvPr id="91" name="s6-demo">
            <a:extLst>
              <a:ext uri="{FF2B5EF4-FFF2-40B4-BE49-F238E27FC236}">
                <a16:creationId xmlns:a16="http://schemas.microsoft.com/office/drawing/2014/main" id="{AF3E61A2-61CA-4EF2-92E1-28F0ACF1B794}"/>
              </a:ext>
            </a:extLst>
          </p:cNvPr>
          <p:cNvSpPr>
            <a:spLocks noGrp="1"/>
          </p:cNvSpPr>
          <p:nvPr/>
        </p:nvSpPr>
        <p:spPr>
          <a:xfrm>
            <a:off x="476250" y="1390650"/>
            <a:ext cx="2476500" cy="2743200"/>
          </a:xfrm>
          <a:prstGeom prst="roundRect">
            <a:avLst>
              <a:gd name="adj" fmla="val 4615"/>
            </a:avLst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6-demo-title">
            <a:extLst>
              <a:ext uri="{FF2B5EF4-FFF2-40B4-BE49-F238E27FC236}">
                <a16:creationId xmlns:a16="http://schemas.microsoft.com/office/drawing/2014/main" id="{2CD251EB-9BFB-4237-BC2F-E65BAE6357BC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Filmable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Demo Flow</a:t>
            </a:r>
          </a:p>
        </p:txBody>
      </p:sp>
      <p:sp>
        <p:nvSpPr>
          <p:cNvPr id="93" name="s6-demo-step-0">
            <a:extLst>
              <a:ext uri="{FF2B5EF4-FFF2-40B4-BE49-F238E27FC236}">
                <a16:creationId xmlns:a16="http://schemas.microsoft.com/office/drawing/2014/main" id="{2253EAE9-87FF-4E39-8AA4-4430A4D319F7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1D2A42"/>
          </a:solidFill>
          <a:ln w="9525">
            <a:solidFill>
              <a:srgbClr val="1D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6-demo-num-0">
            <a:extLst>
              <a:ext uri="{FF2B5EF4-FFF2-40B4-BE49-F238E27FC236}">
                <a16:creationId xmlns:a16="http://schemas.microsoft.com/office/drawing/2014/main" id="{9F7041E4-CC8E-46E5-BA17-B776E2049DA2}"/>
              </a:ext>
            </a:extLst>
          </p:cNvPr>
          <p:cNvSpPr>
            <a:spLocks noGrp="1"/>
          </p:cNvSpPr>
          <p:nvPr/>
        </p:nvSpPr>
        <p:spPr>
          <a:xfrm>
            <a:off x="876300" y="231457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5A524"/>
                </a:solidFill>
              </a:defRPr>
            </a:pPr>
            <a:r>
              <a:rPr sz="1125" b="1">
                <a:solidFill>
                  <a:srgbClr val="F5A524"/>
                </a:solidFill>
              </a:rPr>
              <a:t>1</a:t>
            </a:r>
          </a:p>
        </p:txBody>
      </p:sp>
      <p:sp>
        <p:nvSpPr>
          <p:cNvPr id="95" name="s6-demo-label-0">
            <a:extLst>
              <a:ext uri="{FF2B5EF4-FFF2-40B4-BE49-F238E27FC236}">
                <a16:creationId xmlns:a16="http://schemas.microsoft.com/office/drawing/2014/main" id="{1F631AA7-E21A-4991-8865-8AF413A4AE17}"/>
              </a:ext>
            </a:extLst>
          </p:cNvPr>
          <p:cNvSpPr>
            <a:spLocks noGrp="1"/>
          </p:cNvSpPr>
          <p:nvPr/>
        </p:nvSpPr>
        <p:spPr>
          <a:xfrm>
            <a:off x="1200150" y="2324100"/>
            <a:ext cx="123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EEF6FF"/>
                </a:solidFill>
              </a:defRPr>
            </a:pPr>
            <a:r>
              <a:rPr sz="900" b="1" dirty="0">
                <a:solidFill>
                  <a:srgbClr val="EEF6FF"/>
                </a:solidFill>
              </a:rPr>
              <a:t>Subject + PDF upload</a:t>
            </a:r>
          </a:p>
        </p:txBody>
      </p:sp>
      <p:sp>
        <p:nvSpPr>
          <p:cNvPr id="96" name="s6-demo-step-1">
            <a:extLst>
              <a:ext uri="{FF2B5EF4-FFF2-40B4-BE49-F238E27FC236}">
                <a16:creationId xmlns:a16="http://schemas.microsoft.com/office/drawing/2014/main" id="{55F11FCC-146E-4E2F-9360-DD94496F97CE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24314A"/>
          </a:solidFill>
          <a:ln w="9525">
            <a:solidFill>
              <a:srgbClr val="24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6-demo-num-1">
            <a:extLst>
              <a:ext uri="{FF2B5EF4-FFF2-40B4-BE49-F238E27FC236}">
                <a16:creationId xmlns:a16="http://schemas.microsoft.com/office/drawing/2014/main" id="{EB7C7E45-A950-476B-BD96-F93218B7BD50}"/>
              </a:ext>
            </a:extLst>
          </p:cNvPr>
          <p:cNvSpPr>
            <a:spLocks noGrp="1"/>
          </p:cNvSpPr>
          <p:nvPr/>
        </p:nvSpPr>
        <p:spPr>
          <a:xfrm>
            <a:off x="876300" y="26384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9C4D8"/>
                </a:solidFill>
              </a:defRPr>
            </a:pPr>
            <a:r>
              <a:rPr sz="1125" b="1">
                <a:solidFill>
                  <a:srgbClr val="29C4D8"/>
                </a:solidFill>
              </a:rPr>
              <a:t>2</a:t>
            </a:r>
          </a:p>
        </p:txBody>
      </p:sp>
      <p:sp>
        <p:nvSpPr>
          <p:cNvPr id="98" name="s6-demo-label-1">
            <a:extLst>
              <a:ext uri="{FF2B5EF4-FFF2-40B4-BE49-F238E27FC236}">
                <a16:creationId xmlns:a16="http://schemas.microsoft.com/office/drawing/2014/main" id="{6F5CD691-C071-441B-84F7-C2A8DF5D6DC8}"/>
              </a:ext>
            </a:extLst>
          </p:cNvPr>
          <p:cNvSpPr>
            <a:spLocks noGrp="1"/>
          </p:cNvSpPr>
          <p:nvPr/>
        </p:nvSpPr>
        <p:spPr>
          <a:xfrm>
            <a:off x="1200150" y="2647950"/>
            <a:ext cx="123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EEF6FF"/>
                </a:solidFill>
              </a:defRPr>
            </a:pPr>
            <a:r>
              <a:rPr sz="900" b="1" dirty="0">
                <a:solidFill>
                  <a:srgbClr val="EEF6FF"/>
                </a:solidFill>
              </a:rPr>
              <a:t>7 status boxes</a:t>
            </a:r>
          </a:p>
        </p:txBody>
      </p:sp>
      <p:sp>
        <p:nvSpPr>
          <p:cNvPr id="99" name="s6-demo-step-2">
            <a:extLst>
              <a:ext uri="{FF2B5EF4-FFF2-40B4-BE49-F238E27FC236}">
                <a16:creationId xmlns:a16="http://schemas.microsoft.com/office/drawing/2014/main" id="{04D4F1FC-9A05-4079-AA50-D8F29266904A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1D2A42"/>
          </a:solidFill>
          <a:ln w="9525">
            <a:solidFill>
              <a:srgbClr val="1D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6-demo-num-2">
            <a:extLst>
              <a:ext uri="{FF2B5EF4-FFF2-40B4-BE49-F238E27FC236}">
                <a16:creationId xmlns:a16="http://schemas.microsoft.com/office/drawing/2014/main" id="{210F7CEF-0157-4467-86CD-A8B2DFB14F14}"/>
              </a:ext>
            </a:extLst>
          </p:cNvPr>
          <p:cNvSpPr>
            <a:spLocks noGrp="1"/>
          </p:cNvSpPr>
          <p:nvPr/>
        </p:nvSpPr>
        <p:spPr>
          <a:xfrm>
            <a:off x="876300" y="296227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5A524"/>
                </a:solidFill>
              </a:defRPr>
            </a:pPr>
            <a:r>
              <a:rPr sz="1125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101" name="s6-demo-label-2">
            <a:extLst>
              <a:ext uri="{FF2B5EF4-FFF2-40B4-BE49-F238E27FC236}">
                <a16:creationId xmlns:a16="http://schemas.microsoft.com/office/drawing/2014/main" id="{12269A90-6658-49CC-BD32-A5CB5C7A9052}"/>
              </a:ext>
            </a:extLst>
          </p:cNvPr>
          <p:cNvSpPr>
            <a:spLocks noGrp="1"/>
          </p:cNvSpPr>
          <p:nvPr/>
        </p:nvSpPr>
        <p:spPr>
          <a:xfrm>
            <a:off x="1200150" y="2971800"/>
            <a:ext cx="123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EEF6FF"/>
                </a:solidFill>
              </a:defRPr>
            </a:pPr>
            <a:r>
              <a:rPr sz="900" b="1">
                <a:solidFill>
                  <a:srgbClr val="EEF6FF"/>
                </a:solidFill>
              </a:rPr>
              <a:t>cited review inspector</a:t>
            </a:r>
          </a:p>
        </p:txBody>
      </p:sp>
      <p:sp>
        <p:nvSpPr>
          <p:cNvPr id="102" name="s6-demo-step-3">
            <a:extLst>
              <a:ext uri="{FF2B5EF4-FFF2-40B4-BE49-F238E27FC236}">
                <a16:creationId xmlns:a16="http://schemas.microsoft.com/office/drawing/2014/main" id="{85583101-6E0B-47BC-A790-DA718CD3F702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24314A"/>
          </a:solidFill>
          <a:ln w="9525">
            <a:solidFill>
              <a:srgbClr val="24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6-demo-num-3">
            <a:extLst>
              <a:ext uri="{FF2B5EF4-FFF2-40B4-BE49-F238E27FC236}">
                <a16:creationId xmlns:a16="http://schemas.microsoft.com/office/drawing/2014/main" id="{E3921749-7CDA-439D-B8FC-62DA1D1D7B9E}"/>
              </a:ext>
            </a:extLst>
          </p:cNvPr>
          <p:cNvSpPr>
            <a:spLocks noGrp="1"/>
          </p:cNvSpPr>
          <p:nvPr/>
        </p:nvSpPr>
        <p:spPr>
          <a:xfrm>
            <a:off x="876300" y="32861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9C4D8"/>
                </a:solidFill>
              </a:defRPr>
            </a:pPr>
            <a:r>
              <a:rPr sz="1125" b="1">
                <a:solidFill>
                  <a:srgbClr val="29C4D8"/>
                </a:solidFill>
              </a:rPr>
              <a:t>4</a:t>
            </a:r>
          </a:p>
        </p:txBody>
      </p:sp>
      <p:sp>
        <p:nvSpPr>
          <p:cNvPr id="104" name="s6-demo-label-3">
            <a:extLst>
              <a:ext uri="{FF2B5EF4-FFF2-40B4-BE49-F238E27FC236}">
                <a16:creationId xmlns:a16="http://schemas.microsoft.com/office/drawing/2014/main" id="{D2C9C90D-BF2D-453F-9ECA-EAB82DF72C40}"/>
              </a:ext>
            </a:extLst>
          </p:cNvPr>
          <p:cNvSpPr>
            <a:spLocks noGrp="1"/>
          </p:cNvSpPr>
          <p:nvPr/>
        </p:nvSpPr>
        <p:spPr>
          <a:xfrm>
            <a:off x="1200150" y="3295650"/>
            <a:ext cx="123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EEF6FF"/>
                </a:solidFill>
              </a:defRPr>
            </a:pPr>
            <a:r>
              <a:rPr sz="900" b="1" dirty="0">
                <a:solidFill>
                  <a:srgbClr val="EEF6FF"/>
                </a:solidFill>
              </a:rPr>
              <a:t>image/text comparison</a:t>
            </a:r>
          </a:p>
        </p:txBody>
      </p:sp>
      <p:sp>
        <p:nvSpPr>
          <p:cNvPr id="105" name="s6-demo-step-4">
            <a:extLst>
              <a:ext uri="{FF2B5EF4-FFF2-40B4-BE49-F238E27FC236}">
                <a16:creationId xmlns:a16="http://schemas.microsoft.com/office/drawing/2014/main" id="{8E192B7B-649B-4359-93AB-666230B52B65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1943100" cy="266700"/>
          </a:xfrm>
          <a:prstGeom prst="roundRect">
            <a:avLst>
              <a:gd name="adj" fmla="val 28571"/>
            </a:avLst>
          </a:prstGeom>
          <a:solidFill>
            <a:srgbClr val="1D2A42"/>
          </a:solidFill>
          <a:ln w="9525">
            <a:solidFill>
              <a:srgbClr val="1D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6-demo-num-4">
            <a:extLst>
              <a:ext uri="{FF2B5EF4-FFF2-40B4-BE49-F238E27FC236}">
                <a16:creationId xmlns:a16="http://schemas.microsoft.com/office/drawing/2014/main" id="{DF2DE6B9-F353-4037-82A9-AF45EF05BF0F}"/>
              </a:ext>
            </a:extLst>
          </p:cNvPr>
          <p:cNvSpPr>
            <a:spLocks noGrp="1"/>
          </p:cNvSpPr>
          <p:nvPr/>
        </p:nvSpPr>
        <p:spPr>
          <a:xfrm>
            <a:off x="876300" y="360997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5A524"/>
                </a:solidFill>
              </a:defRPr>
            </a:pPr>
            <a:r>
              <a:rPr sz="1125" b="1">
                <a:solidFill>
                  <a:srgbClr val="F5A524"/>
                </a:solidFill>
              </a:rPr>
              <a:t>5</a:t>
            </a:r>
          </a:p>
        </p:txBody>
      </p:sp>
      <p:sp>
        <p:nvSpPr>
          <p:cNvPr id="107" name="s6-demo-label-4">
            <a:extLst>
              <a:ext uri="{FF2B5EF4-FFF2-40B4-BE49-F238E27FC236}">
                <a16:creationId xmlns:a16="http://schemas.microsoft.com/office/drawing/2014/main" id="{9A5F18CC-E54C-41F6-806D-0C0D540B2D6B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123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EEF6FF"/>
                </a:solidFill>
              </a:defRPr>
            </a:pPr>
            <a:r>
              <a:rPr sz="900" b="1">
                <a:solidFill>
                  <a:srgbClr val="EEF6FF"/>
                </a:solidFill>
              </a:rPr>
              <a:t>quiz, grade, retake</a:t>
            </a:r>
          </a:p>
        </p:txBody>
      </p:sp>
      <p:sp>
        <p:nvSpPr>
          <p:cNvPr id="108" name="s6-eval">
            <a:extLst>
              <a:ext uri="{FF2B5EF4-FFF2-40B4-BE49-F238E27FC236}">
                <a16:creationId xmlns:a16="http://schemas.microsoft.com/office/drawing/2014/main" id="{02E04E67-9BE9-445A-B593-32BC37F94901}"/>
              </a:ext>
            </a:extLst>
          </p:cNvPr>
          <p:cNvSpPr>
            <a:spLocks noGrp="1"/>
          </p:cNvSpPr>
          <p:nvPr/>
        </p:nvSpPr>
        <p:spPr>
          <a:xfrm>
            <a:off x="3352800" y="1390650"/>
            <a:ext cx="5295900" cy="2743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6-eval-title">
            <a:extLst>
              <a:ext uri="{FF2B5EF4-FFF2-40B4-BE49-F238E27FC236}">
                <a16:creationId xmlns:a16="http://schemas.microsoft.com/office/drawing/2014/main" id="{0DEB2449-E9B9-4EF2-A5C8-F71FF5F449D4}"/>
              </a:ext>
            </a:extLst>
          </p:cNvPr>
          <p:cNvSpPr>
            <a:spLocks noGrp="1"/>
          </p:cNvSpPr>
          <p:nvPr/>
        </p:nvSpPr>
        <p:spPr>
          <a:xfrm>
            <a:off x="3638550" y="1657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6A085"/>
                </a:solidFill>
              </a:defRPr>
            </a:pPr>
            <a:r>
              <a:rPr sz="1575" b="1">
                <a:solidFill>
                  <a:srgbClr val="16A085"/>
                </a:solidFill>
              </a:rPr>
              <a:t>Evaluation scoreboard</a:t>
            </a:r>
          </a:p>
        </p:txBody>
      </p:sp>
      <p:sp>
        <p:nvSpPr>
          <p:cNvPr id="110" name="s6-m1-box">
            <a:extLst>
              <a:ext uri="{FF2B5EF4-FFF2-40B4-BE49-F238E27FC236}">
                <a16:creationId xmlns:a16="http://schemas.microsoft.com/office/drawing/2014/main" id="{391A66B0-9F7F-4F9D-A357-521721A766D3}"/>
              </a:ext>
            </a:extLst>
          </p:cNvPr>
          <p:cNvSpPr>
            <a:spLocks noGrp="1"/>
          </p:cNvSpPr>
          <p:nvPr/>
        </p:nvSpPr>
        <p:spPr>
          <a:xfrm>
            <a:off x="3638550" y="2095500"/>
            <a:ext cx="1352550" cy="933450"/>
          </a:xfrm>
          <a:prstGeom prst="roundRect">
            <a:avLst>
              <a:gd name="adj" fmla="val 12245"/>
            </a:avLst>
          </a:prstGeom>
          <a:solidFill>
            <a:srgbClr val="E6FBF8"/>
          </a:solidFill>
          <a:ln w="9525">
            <a:solidFill>
              <a:srgbClr val="E6F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6-m1-value">
            <a:extLst>
              <a:ext uri="{FF2B5EF4-FFF2-40B4-BE49-F238E27FC236}">
                <a16:creationId xmlns:a16="http://schemas.microsoft.com/office/drawing/2014/main" id="{16661D2B-43AD-4EA8-A5A9-4E13482F4003}"/>
              </a:ext>
            </a:extLst>
          </p:cNvPr>
          <p:cNvSpPr>
            <a:spLocks noGrp="1"/>
          </p:cNvSpPr>
          <p:nvPr/>
        </p:nvSpPr>
        <p:spPr>
          <a:xfrm>
            <a:off x="3790950" y="22098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6A085"/>
                </a:solidFill>
              </a:defRPr>
            </a:pPr>
            <a:r>
              <a:rPr sz="2250" b="1">
                <a:solidFill>
                  <a:srgbClr val="16A085"/>
                </a:solidFill>
              </a:rPr>
              <a:t>/3</a:t>
            </a:r>
          </a:p>
        </p:txBody>
      </p:sp>
      <p:sp>
        <p:nvSpPr>
          <p:cNvPr id="112" name="s6-m1-label">
            <a:extLst>
              <a:ext uri="{FF2B5EF4-FFF2-40B4-BE49-F238E27FC236}">
                <a16:creationId xmlns:a16="http://schemas.microsoft.com/office/drawing/2014/main" id="{9EB9D0EE-C48C-4870-A0AB-DACDDDDCE0F0}"/>
              </a:ext>
            </a:extLst>
          </p:cNvPr>
          <p:cNvSpPr>
            <a:spLocks noGrp="1"/>
          </p:cNvSpPr>
          <p:nvPr/>
        </p:nvSpPr>
        <p:spPr>
          <a:xfrm>
            <a:off x="3771900" y="2609850"/>
            <a:ext cx="108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headline figure-only fact recovery</a:t>
            </a:r>
          </a:p>
        </p:txBody>
      </p:sp>
      <p:sp>
        <p:nvSpPr>
          <p:cNvPr id="113" name="s6-m2-box">
            <a:extLst>
              <a:ext uri="{FF2B5EF4-FFF2-40B4-BE49-F238E27FC236}">
                <a16:creationId xmlns:a16="http://schemas.microsoft.com/office/drawing/2014/main" id="{7F9CD57B-A913-42D0-B179-357B8A33AB40}"/>
              </a:ext>
            </a:extLst>
          </p:cNvPr>
          <p:cNvSpPr>
            <a:spLocks noGrp="1"/>
          </p:cNvSpPr>
          <p:nvPr/>
        </p:nvSpPr>
        <p:spPr>
          <a:xfrm>
            <a:off x="5314950" y="2095500"/>
            <a:ext cx="1352550" cy="933450"/>
          </a:xfrm>
          <a:prstGeom prst="roundRect">
            <a:avLst>
              <a:gd name="adj" fmla="val 12245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6-m2-value">
            <a:extLst>
              <a:ext uri="{FF2B5EF4-FFF2-40B4-BE49-F238E27FC236}">
                <a16:creationId xmlns:a16="http://schemas.microsoft.com/office/drawing/2014/main" id="{FF7060FA-6FD6-45CB-92DE-7E9FC1FFD0EC}"/>
              </a:ext>
            </a:extLst>
          </p:cNvPr>
          <p:cNvSpPr>
            <a:spLocks noGrp="1"/>
          </p:cNvSpPr>
          <p:nvPr/>
        </p:nvSpPr>
        <p:spPr>
          <a:xfrm>
            <a:off x="5467350" y="22098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867F0"/>
                </a:solidFill>
              </a:defRPr>
            </a:pPr>
            <a:r>
              <a:rPr sz="2250" b="1">
                <a:solidFill>
                  <a:srgbClr val="2867F0"/>
                </a:solidFill>
              </a:rPr>
              <a:t>/5</a:t>
            </a:r>
          </a:p>
        </p:txBody>
      </p:sp>
      <p:sp>
        <p:nvSpPr>
          <p:cNvPr id="115" name="s6-m2-label">
            <a:extLst>
              <a:ext uri="{FF2B5EF4-FFF2-40B4-BE49-F238E27FC236}">
                <a16:creationId xmlns:a16="http://schemas.microsoft.com/office/drawing/2014/main" id="{B9074F6F-9E9B-4991-BE8D-A7F07137888F}"/>
              </a:ext>
            </a:extLst>
          </p:cNvPr>
          <p:cNvSpPr>
            <a:spLocks noGrp="1"/>
          </p:cNvSpPr>
          <p:nvPr/>
        </p:nvSpPr>
        <p:spPr>
          <a:xfrm>
            <a:off x="5448300" y="2609850"/>
            <a:ext cx="108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repeatability per labeled slide</a:t>
            </a:r>
          </a:p>
        </p:txBody>
      </p:sp>
      <p:sp>
        <p:nvSpPr>
          <p:cNvPr id="116" name="s6-m3-box">
            <a:extLst>
              <a:ext uri="{FF2B5EF4-FFF2-40B4-BE49-F238E27FC236}">
                <a16:creationId xmlns:a16="http://schemas.microsoft.com/office/drawing/2014/main" id="{5D751417-5BBA-46D9-AB98-9746F3267C51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1352550" cy="933450"/>
          </a:xfrm>
          <a:prstGeom prst="roundRect">
            <a:avLst>
              <a:gd name="adj" fmla="val 12245"/>
            </a:avLst>
          </a:prstGeom>
          <a:solidFill>
            <a:srgbClr val="FFF3D8"/>
          </a:solidFill>
          <a:ln w="9525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6-m3-value">
            <a:extLst>
              <a:ext uri="{FF2B5EF4-FFF2-40B4-BE49-F238E27FC236}">
                <a16:creationId xmlns:a16="http://schemas.microsoft.com/office/drawing/2014/main" id="{261D4541-26EA-4015-BCCC-D724E8D255B0}"/>
              </a:ext>
            </a:extLst>
          </p:cNvPr>
          <p:cNvSpPr>
            <a:spLocks noGrp="1"/>
          </p:cNvSpPr>
          <p:nvPr/>
        </p:nvSpPr>
        <p:spPr>
          <a:xfrm>
            <a:off x="7143750" y="22098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5A524"/>
                </a:solidFill>
              </a:defRPr>
            </a:pPr>
            <a:r>
              <a:rPr sz="2250" b="1">
                <a:solidFill>
                  <a:srgbClr val="F5A524"/>
                </a:solidFill>
              </a:rPr>
              <a:t>/10</a:t>
            </a:r>
          </a:p>
        </p:txBody>
      </p:sp>
      <p:sp>
        <p:nvSpPr>
          <p:cNvPr id="118" name="s6-m3-label">
            <a:extLst>
              <a:ext uri="{FF2B5EF4-FFF2-40B4-BE49-F238E27FC236}">
                <a16:creationId xmlns:a16="http://schemas.microsoft.com/office/drawing/2014/main" id="{7637CA2C-BA94-449B-AF89-0500F78E67BC}"/>
              </a:ext>
            </a:extLst>
          </p:cNvPr>
          <p:cNvSpPr>
            <a:spLocks noGrp="1"/>
          </p:cNvSpPr>
          <p:nvPr/>
        </p:nvSpPr>
        <p:spPr>
          <a:xfrm>
            <a:off x="7124700" y="2609850"/>
            <a:ext cx="108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quiz citation support by hand</a:t>
            </a:r>
          </a:p>
        </p:txBody>
      </p:sp>
      <p:pic>
        <p:nvPicPr>
          <p:cNvPr id="152" name="Picture 151"/>
          <p:cNvPicPr>
            <a:picLocks noChangeAspect="1"/>
          </p:cNvPicPr>
          <p:nvPr/>
        </p:nvPicPr>
        <p:blipFill>
          <a:blip r:embed="rId3"/>
          <a:srcRect t="69" b="69"/>
          <a:stretch>
            <a:fillRect/>
          </a:stretch>
        </p:blipFill>
        <p:spPr>
          <a:xfrm>
            <a:off x="4057650" y="3276600"/>
            <a:ext cx="1543050" cy="866775"/>
          </a:xfrm>
          <a:prstGeom prst="roundRect">
            <a:avLst>
              <a:gd name="adj" fmla="val 13187"/>
            </a:avLst>
          </a:prstGeom>
        </p:spPr>
      </p:pic>
      <p:sp>
        <p:nvSpPr>
          <p:cNvPr id="120" name="s6-bridge">
            <a:extLst>
              <a:ext uri="{FF2B5EF4-FFF2-40B4-BE49-F238E27FC236}">
                <a16:creationId xmlns:a16="http://schemas.microsoft.com/office/drawing/2014/main" id="{AE3F8910-BC4B-4EBB-81AB-1FF8E6640B96}"/>
              </a:ext>
            </a:extLst>
          </p:cNvPr>
          <p:cNvSpPr>
            <a:spLocks noGrp="1"/>
          </p:cNvSpPr>
          <p:nvPr/>
        </p:nvSpPr>
        <p:spPr>
          <a:xfrm>
            <a:off x="5753100" y="35433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06449"/>
                </a:solidFill>
              </a:defRPr>
            </a:pPr>
            <a:r>
              <a:rPr sz="1200" b="1">
                <a:solidFill>
                  <a:srgbClr val="F06449"/>
                </a:solidFill>
              </a:rPr>
              <a:t>bridged fact</a:t>
            </a:r>
          </a:p>
        </p:txBody>
      </p:sp>
      <p:pic>
        <p:nvPicPr>
          <p:cNvPr id="154" name="Picture 153"/>
          <p:cNvPicPr>
            <a:picLocks noChangeAspect="1"/>
          </p:cNvPicPr>
          <p:nvPr/>
        </p:nvPicPr>
        <p:blipFill>
          <a:blip r:embed="rId4"/>
          <a:srcRect t="69" b="69"/>
          <a:stretch>
            <a:fillRect/>
          </a:stretch>
        </p:blipFill>
        <p:spPr>
          <a:xfrm>
            <a:off x="6934200" y="3276600"/>
            <a:ext cx="1543050" cy="866775"/>
          </a:xfrm>
          <a:prstGeom prst="roundRect">
            <a:avLst>
              <a:gd name="adj" fmla="val 13187"/>
            </a:avLst>
          </a:prstGeom>
        </p:spPr>
      </p:pic>
    </p:spTree>
    <p:extLst>
      <p:ext uri="{BB962C8B-B14F-4D97-AF65-F5344CB8AC3E}">
        <p14:creationId xmlns:p14="http://schemas.microsoft.com/office/powerpoint/2010/main" val="3216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>
            <a:extLst>
              <a:ext uri="{FF2B5EF4-FFF2-40B4-BE49-F238E27FC236}">
                <a16:creationId xmlns:a16="http://schemas.microsoft.com/office/drawing/2014/main" id="{6B7C1A03-AF53-4C23-A94F-026F1A2A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323850"/>
            <a:ext cx="8096250" cy="457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80009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FFFFF"/>
                </a:solidFill>
              </a:defRPr>
            </a:pPr>
            <a:r>
              <a:rPr sz="2250" b="1" dirty="0">
                <a:solidFill>
                  <a:srgbClr val="FFFFFF"/>
                </a:solidFill>
              </a:rPr>
              <a:t>Conclusion: the value is faithful learning artifacts</a:t>
            </a:r>
            <a:endParaRPr dirty="0"/>
          </a:p>
        </p:txBody>
      </p:sp>
      <p:sp>
        <p:nvSpPr>
          <p:cNvPr id="96" name="Google Shape;96;p20">
            <a:extLst>
              <a:ext uri="{FF2B5EF4-FFF2-40B4-BE49-F238E27FC236}">
                <a16:creationId xmlns:a16="http://schemas.microsoft.com/office/drawing/2014/main" id="{BAD50E11-2BFD-42DD-8177-B25E40385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150" y="876300"/>
            <a:ext cx="7905750" cy="4000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DDE7F6"/>
                </a:solidFill>
              </a:defRPr>
            </a:pPr>
            <a:r>
              <a:rPr sz="1000" dirty="0">
                <a:solidFill>
                  <a:srgbClr val="DDE7F6"/>
                </a:solidFill>
              </a:rPr>
              <a:t>The project turns a slide deck into an auditable chain: visual facts -&gt; structured notes -&gt; cited review -&gt; quiz -&gt; topic memory.</a:t>
            </a:r>
            <a:endParaRPr sz="1000" dirty="0"/>
          </a:p>
        </p:txBody>
      </p:sp>
      <p:sp>
        <p:nvSpPr>
          <p:cNvPr id="97" name="s7-col-0">
            <a:extLst>
              <a:ext uri="{FF2B5EF4-FFF2-40B4-BE49-F238E27FC236}">
                <a16:creationId xmlns:a16="http://schemas.microsoft.com/office/drawing/2014/main" id="{627B6BBA-BE13-4E85-95E5-75C70E85A68B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2400300" cy="1905000"/>
          </a:xfrm>
          <a:prstGeom prst="roundRect">
            <a:avLst>
              <a:gd name="adj" fmla="val 6000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7-title-0">
            <a:extLst>
              <a:ext uri="{FF2B5EF4-FFF2-40B4-BE49-F238E27FC236}">
                <a16:creationId xmlns:a16="http://schemas.microsoft.com/office/drawing/2014/main" id="{087EB5FC-EA03-4E3E-A391-23A91327FB3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867F0"/>
                </a:solidFill>
              </a:defRPr>
            </a:pPr>
            <a:r>
              <a:rPr sz="1425" b="1">
                <a:solidFill>
                  <a:srgbClr val="2867F0"/>
                </a:solidFill>
              </a:rPr>
              <a:t>What we learned</a:t>
            </a:r>
          </a:p>
        </p:txBody>
      </p:sp>
      <p:sp>
        <p:nvSpPr>
          <p:cNvPr id="99" name="s7-body-0">
            <a:extLst>
              <a:ext uri="{FF2B5EF4-FFF2-40B4-BE49-F238E27FC236}">
                <a16:creationId xmlns:a16="http://schemas.microsoft.com/office/drawing/2014/main" id="{A15F49C8-F363-4197-98A8-E20DAB0455D6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019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72033"/>
                </a:solidFill>
              </a:defRPr>
            </a:pPr>
            <a:r>
              <a:rPr sz="1125">
                <a:solidFill>
                  <a:srgbClr val="172033"/>
                </a:solidFill>
              </a:rPr>
              <a:t>Schemas are the contract.</a:t>
            </a:r>
          </a:p>
          <a:p>
            <a:pPr>
              <a:defRPr sz="1125">
                <a:solidFill>
                  <a:srgbClr val="172033"/>
                </a:solidFill>
              </a:defRPr>
            </a:pPr>
            <a:r>
              <a:rPr sz="1125">
                <a:solidFill>
                  <a:srgbClr val="172033"/>
                </a:solidFill>
              </a:rPr>
              <a:t>Visual assertions need their own field.</a:t>
            </a:r>
          </a:p>
          <a:p>
            <a:pPr>
              <a:defRPr sz="1125">
                <a:solidFill>
                  <a:srgbClr val="172033"/>
                </a:solidFill>
              </a:defRPr>
            </a:pPr>
            <a:r>
              <a:rPr sz="1125">
                <a:solidFill>
                  <a:srgbClr val="172033"/>
                </a:solidFill>
              </a:rPr>
              <a:t>Failure notes must stay inspectable.</a:t>
            </a:r>
          </a:p>
        </p:txBody>
      </p:sp>
      <p:sp>
        <p:nvSpPr>
          <p:cNvPr id="100" name="s7-col-1">
            <a:extLst>
              <a:ext uri="{FF2B5EF4-FFF2-40B4-BE49-F238E27FC236}">
                <a16:creationId xmlns:a16="http://schemas.microsoft.com/office/drawing/2014/main" id="{C359D4BE-0169-4AD2-BA9C-1EDCE7C5873D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2400300" cy="1905000"/>
          </a:xfrm>
          <a:prstGeom prst="roundRect">
            <a:avLst>
              <a:gd name="adj" fmla="val 6000"/>
            </a:avLst>
          </a:prstGeom>
          <a:solidFill>
            <a:srgbClr val="FFF3D8"/>
          </a:solidFill>
          <a:ln w="9525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7-title-1">
            <a:extLst>
              <a:ext uri="{FF2B5EF4-FFF2-40B4-BE49-F238E27FC236}">
                <a16:creationId xmlns:a16="http://schemas.microsoft.com/office/drawing/2014/main" id="{52446CFB-4DE6-4B47-A4B0-DF1DF63B7076}"/>
              </a:ext>
            </a:extLst>
          </p:cNvPr>
          <p:cNvSpPr>
            <a:spLocks noGrp="1"/>
          </p:cNvSpPr>
          <p:nvPr/>
        </p:nvSpPr>
        <p:spPr>
          <a:xfrm>
            <a:off x="3524250" y="1924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A524"/>
                </a:solidFill>
              </a:defRPr>
            </a:pPr>
            <a:r>
              <a:rPr sz="1425" b="1">
                <a:solidFill>
                  <a:srgbClr val="F5A524"/>
                </a:solidFill>
              </a:rPr>
              <a:t>What remains</a:t>
            </a:r>
          </a:p>
        </p:txBody>
      </p:sp>
      <p:sp>
        <p:nvSpPr>
          <p:cNvPr id="102" name="s7-body-1">
            <a:extLst>
              <a:ext uri="{FF2B5EF4-FFF2-40B4-BE49-F238E27FC236}">
                <a16:creationId xmlns:a16="http://schemas.microsoft.com/office/drawing/2014/main" id="{7166463E-7C69-4EA8-B709-15124122CD47}"/>
              </a:ext>
            </a:extLst>
          </p:cNvPr>
          <p:cNvSpPr>
            <a:spLocks noGrp="1"/>
          </p:cNvSpPr>
          <p:nvPr/>
        </p:nvSpPr>
        <p:spPr>
          <a:xfrm>
            <a:off x="3524250" y="2381250"/>
            <a:ext cx="2019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72033"/>
                </a:solidFill>
              </a:defRPr>
            </a:pPr>
            <a:r>
              <a:rPr sz="1125">
                <a:solidFill>
                  <a:srgbClr val="172033"/>
                </a:solidFill>
              </a:rPr>
              <a:t>Finish page reader through memory.</a:t>
            </a:r>
          </a:p>
          <a:p>
            <a:pPr>
              <a:defRPr sz="1125">
                <a:solidFill>
                  <a:srgbClr val="172033"/>
                </a:solidFill>
              </a:defRPr>
            </a:pPr>
            <a:r>
              <a:rPr sz="1125">
                <a:solidFill>
                  <a:srgbClr val="172033"/>
                </a:solidFill>
              </a:rPr>
              <a:t>Commit the golden Day 3 run.</a:t>
            </a:r>
          </a:p>
          <a:p>
            <a:pPr>
              <a:defRPr sz="1125">
                <a:solidFill>
                  <a:srgbClr val="172033"/>
                </a:solidFill>
              </a:defRPr>
            </a:pPr>
            <a:r>
              <a:rPr sz="1125">
                <a:solidFill>
                  <a:srgbClr val="172033"/>
                </a:solidFill>
              </a:rPr>
              <a:t>Build Streamlit replay and retake UI.</a:t>
            </a:r>
          </a:p>
        </p:txBody>
      </p:sp>
      <p:sp>
        <p:nvSpPr>
          <p:cNvPr id="103" name="s7-col-2">
            <a:extLst>
              <a:ext uri="{FF2B5EF4-FFF2-40B4-BE49-F238E27FC236}">
                <a16:creationId xmlns:a16="http://schemas.microsoft.com/office/drawing/2014/main" id="{D173FAD3-E1D6-4D68-ADCB-EF5141254DDC}"/>
              </a:ext>
            </a:extLst>
          </p:cNvPr>
          <p:cNvSpPr>
            <a:spLocks noGrp="1"/>
          </p:cNvSpPr>
          <p:nvPr/>
        </p:nvSpPr>
        <p:spPr>
          <a:xfrm>
            <a:off x="6172200" y="1657350"/>
            <a:ext cx="2400300" cy="1905000"/>
          </a:xfrm>
          <a:prstGeom prst="roundRect">
            <a:avLst>
              <a:gd name="adj" fmla="val 6000"/>
            </a:avLst>
          </a:prstGeom>
          <a:solidFill>
            <a:srgbClr val="F1ECFF"/>
          </a:solidFill>
          <a:ln w="9525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7-title-2">
            <a:extLst>
              <a:ext uri="{FF2B5EF4-FFF2-40B4-BE49-F238E27FC236}">
                <a16:creationId xmlns:a16="http://schemas.microsoft.com/office/drawing/2014/main" id="{EB650534-C711-473E-94D0-0913A6817457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7D4CDB"/>
                </a:solidFill>
              </a:defRPr>
            </a:pPr>
            <a:r>
              <a:rPr sz="1425" b="1">
                <a:solidFill>
                  <a:srgbClr val="7D4CDB"/>
                </a:solidFill>
              </a:rPr>
              <a:t>What to discuss</a:t>
            </a:r>
          </a:p>
        </p:txBody>
      </p:sp>
      <p:sp>
        <p:nvSpPr>
          <p:cNvPr id="105" name="s7-body-2">
            <a:extLst>
              <a:ext uri="{FF2B5EF4-FFF2-40B4-BE49-F238E27FC236}">
                <a16:creationId xmlns:a16="http://schemas.microsoft.com/office/drawing/2014/main" id="{755CD219-3A4D-4954-B324-24FA1DF2E73B}"/>
              </a:ext>
            </a:extLst>
          </p:cNvPr>
          <p:cNvSpPr>
            <a:spLocks noGrp="1"/>
          </p:cNvSpPr>
          <p:nvPr/>
        </p:nvSpPr>
        <p:spPr>
          <a:xfrm>
            <a:off x="6362700" y="2381250"/>
            <a:ext cx="2019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How many labeled facts are enough?</a:t>
            </a:r>
          </a:p>
          <a:p>
            <a:pPr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Where should topic matching become human-reviewed?</a:t>
            </a:r>
          </a:p>
          <a:p>
            <a:pPr>
              <a:defRPr sz="975">
                <a:solidFill>
                  <a:srgbClr val="172033"/>
                </a:solidFill>
              </a:defRPr>
            </a:pPr>
            <a:r>
              <a:rPr sz="975">
                <a:solidFill>
                  <a:srgbClr val="172033"/>
                </a:solidFill>
              </a:rPr>
              <a:t>What is a fair text baseline?</a:t>
            </a:r>
          </a:p>
        </p:txBody>
      </p:sp>
      <p:sp>
        <p:nvSpPr>
          <p:cNvPr id="106" name="s7-next-tag">
            <a:extLst>
              <a:ext uri="{FF2B5EF4-FFF2-40B4-BE49-F238E27FC236}">
                <a16:creationId xmlns:a16="http://schemas.microsoft.com/office/drawing/2014/main" id="{45C243FD-516D-4479-82F8-68D6DE34E8DF}"/>
              </a:ext>
            </a:extLst>
          </p:cNvPr>
          <p:cNvSpPr>
            <a:spLocks noGrp="1"/>
          </p:cNvSpPr>
          <p:nvPr/>
        </p:nvSpPr>
        <p:spPr>
          <a:xfrm>
            <a:off x="1314450" y="4076700"/>
            <a:ext cx="6515100" cy="361950"/>
          </a:xfrm>
          <a:prstGeom prst="roundRect">
            <a:avLst>
              <a:gd name="adj" fmla="val 21053"/>
            </a:avLst>
          </a:prstGeom>
          <a:solidFill>
            <a:srgbClr val="24314A"/>
          </a:solidFill>
          <a:ln w="9525">
            <a:solidFill>
              <a:srgbClr val="24314A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next milestone: end-to-end Day 3 run with image/text comparison ready to replay</a:t>
            </a:r>
          </a:p>
        </p:txBody>
      </p:sp>
    </p:spTree>
    <p:extLst>
      <p:ext uri="{BB962C8B-B14F-4D97-AF65-F5344CB8AC3E}">
        <p14:creationId xmlns:p14="http://schemas.microsoft.com/office/powerpoint/2010/main" val="46970786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</Words>
  <Application>Microsoft Office PowerPoint</Application>
  <DocSecurity>0</DocSecurity>
  <PresentationFormat>On-screen Show (16:9)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Slide Deck to Study Guide Agent</vt:lpstr>
      <vt:lpstr>Project promise</vt:lpstr>
      <vt:lpstr>Project description and goal</vt:lpstr>
      <vt:lpstr>Why this project matters: slides hide meaning in visuals</vt:lpstr>
      <vt:lpstr>How we build it: one run, two paths, written artifacts</vt:lpstr>
      <vt:lpstr>Demo and evaluation: prove the modality claim</vt:lpstr>
      <vt:lpstr>Conclusion: the value is faithful learning artifacts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Johnson Sanya</cp:lastModifiedBy>
  <cp:revision>1</cp:revision>
  <dcterms:created xsi:type="dcterms:W3CDTF">2026-08-21T03:08:34Z</dcterms:created>
  <dcterms:modified xsi:type="dcterms:W3CDTF">2026-08-21T03:17:24Z</dcterms:modified>
</cp:coreProperties>
</file>