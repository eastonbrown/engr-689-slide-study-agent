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8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son Sanya" userId="3858c62b8671ca40" providerId="LiveId" clId="{F8EA54DB-AA73-4C05-A541-7FFB088F4F8D}"/>
    <pc:docChg chg="undo custSel modSld">
      <pc:chgData name="Johnson Sanya" userId="3858c62b8671ca40" providerId="LiveId" clId="{F8EA54DB-AA73-4C05-A541-7FFB088F4F8D}" dt="2026-08-21T03:00:42.981" v="13" actId="20577"/>
      <pc:docMkLst>
        <pc:docMk/>
      </pc:docMkLst>
      <pc:sldChg chg="modSp mod">
        <pc:chgData name="Johnson Sanya" userId="3858c62b8671ca40" providerId="LiveId" clId="{F8EA54DB-AA73-4C05-A541-7FFB088F4F8D}" dt="2026-08-21T03:00:42.981" v="13" actId="20577"/>
        <pc:sldMkLst>
          <pc:docMk/>
          <pc:sldMk cId="251660844" sldId="257"/>
        </pc:sldMkLst>
        <pc:spChg chg="mod">
          <ac:chgData name="Johnson Sanya" userId="3858c62b8671ca40" providerId="LiveId" clId="{F8EA54DB-AA73-4C05-A541-7FFB088F4F8D}" dt="2026-08-21T03:00:42.981" v="13" actId="20577"/>
          <ac:spMkLst>
            <pc:docMk/>
            <pc:sldMk cId="251660844" sldId="257"/>
            <ac:spMk id="66" creationId="{AF938194-3E17-4F2F-8AF6-7A75941CF5C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Opening: this project turns lecture slide PDFs into cited study material and adaptive quiz practice.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CONTEXT.md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Replace [Your Name] with the presenter or team name before presenting.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docs/Mini-Project Presentation (ENGR 689 F26).pptx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Describe the user story: a student uploads a lecture PDF and gets review material, quiz practice, grading, and later retakes.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CONTEXT.md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docs/spec.md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Explain the labeled figure-only facts: sensors/actuators, CLIP encoder dominance, and generation versus retrieval.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eval/figure-only-facts.json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data/course/slides/Day3 Principle.pdf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Emphasize that the repo is honest about status: the architecture is specified, and core scaffolding has landed.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docs/spec.md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src/study_agent/schemas.py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src/study_agent/render.py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src/study_agent/paths.py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src/study_agent/config.py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tests/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most important demo moment is the side-by-side comparison: generation composes concepts while retrieval returns nearest existing images.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docs/spec.md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eval/results.md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eval/figure-only-facts.json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data/course/slides/Day3 Principle.pdf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Close by naming the practical next step: produce the golden Day 3 run, then use the UI to replay it in class.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CONTEXT.md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docs/spec.md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docs/adr/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53A3165C-09FE-45C8-929F-BDEA57E42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30B94000-CC34-4264-B683-C50753E00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94C15AC1-E17C-4948-956A-9C418A03ADA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CF90748F-F518-489A-ADB0-780CF574E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91354CC1-29E1-4BC8-8611-C4EAB9E514B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>
            <a:extLst>
              <a:ext uri="{FF2B5EF4-FFF2-40B4-BE49-F238E27FC236}">
                <a16:creationId xmlns:a16="http://schemas.microsoft.com/office/drawing/2014/main" id="{6BFC5EA2-A7BA-431D-8982-B32C9CDA2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>
            <a:extLst>
              <a:ext uri="{FF2B5EF4-FFF2-40B4-BE49-F238E27FC236}">
                <a16:creationId xmlns:a16="http://schemas.microsoft.com/office/drawing/2014/main" id="{F217BDE5-60D9-4062-9C28-193DF9EFA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>
            <a:extLst>
              <a:ext uri="{FF2B5EF4-FFF2-40B4-BE49-F238E27FC236}">
                <a16:creationId xmlns:a16="http://schemas.microsoft.com/office/drawing/2014/main" id="{84CEEF7F-D830-406E-8D42-26F4910F803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53216698-7A1A-4DB8-9901-24C6053F5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A952A945-F8D3-4404-A7E2-D045D8777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BF5B0BAC-4404-460A-8338-31032A2D52D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E459DBC9-8A0D-4373-A282-E1BBC32726A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9B01C3D5-D3BE-4C79-A294-C10C9799C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04429325-99AD-4AA0-83C7-373330616AF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>
            <a:extLst>
              <a:ext uri="{FF2B5EF4-FFF2-40B4-BE49-F238E27FC236}">
                <a16:creationId xmlns:a16="http://schemas.microsoft.com/office/drawing/2014/main" id="{7F0232E8-90EE-4532-A007-5A7301125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F52B5958-77EA-433A-B620-AFEE5EBFB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1731EB46-6B13-4B9E-B588-C026B8495D9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>
            <a:extLst>
              <a:ext uri="{FF2B5EF4-FFF2-40B4-BE49-F238E27FC236}">
                <a16:creationId xmlns:a16="http://schemas.microsoft.com/office/drawing/2014/main" id="{8FBDD08C-A4FA-42B2-8869-FA758DE0B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C80420F4-FB46-4564-B8FE-29428716111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>
            <a:extLst>
              <a:ext uri="{FF2B5EF4-FFF2-40B4-BE49-F238E27FC236}">
                <a16:creationId xmlns:a16="http://schemas.microsoft.com/office/drawing/2014/main" id="{4E77EEA4-38C6-4E24-9CF2-173FAA852F09}"/>
              </a:ext>
            </a:extLst>
          </p:cNvPr>
          <p:cNvSpPr>
            <a:spLocks noGrp="1"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>
              <a:ext uri="{FF2B5EF4-FFF2-40B4-BE49-F238E27FC236}">
                <a16:creationId xmlns:a16="http://schemas.microsoft.com/office/drawing/2014/main" id="{818D3987-05F0-46FE-9678-FAD68C88C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D482FC6A-A4DD-4DFF-82CF-85C2606ED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1F8455BE-8DB0-4429-96F2-B73BD7DFB76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3E213080-C0AA-46D5-B983-F7E73B86B07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>
            <a:extLst>
              <a:ext uri="{FF2B5EF4-FFF2-40B4-BE49-F238E27FC236}">
                <a16:creationId xmlns:a16="http://schemas.microsoft.com/office/drawing/2014/main" id="{514B9991-8D1A-4586-A57C-A9582ED80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8C67852C-A83B-4E1F-A825-E20AF248393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>
            <a:extLst>
              <a:ext uri="{FF2B5EF4-FFF2-40B4-BE49-F238E27FC236}">
                <a16:creationId xmlns:a16="http://schemas.microsoft.com/office/drawing/2014/main" id="{07D9A246-4878-4089-BCE7-4DA0411003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6B1FF3ED-C882-4775-8AA7-CB59FF812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B0DF227C-C6CB-4C12-87D5-93E0F0DB770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>
            <a:extLst>
              <a:ext uri="{FF2B5EF4-FFF2-40B4-BE49-F238E27FC236}">
                <a16:creationId xmlns:a16="http://schemas.microsoft.com/office/drawing/2014/main" id="{3B394C4C-4CBD-4F76-B858-99D08B39A73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6EF70F97-C56E-4BD8-B917-029E0CF1B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5955D56A-EF46-455B-A3FD-8DA979F2E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24C06E9B-B833-4450-BAF6-70B69471D5A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5BB0569A-C587-4370-AAA7-00E7B037A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744575"/>
            <a:ext cx="8520600" cy="1827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2850">
                <a:solidFill>
                  <a:srgbClr val="111827"/>
                </a:solidFill>
              </a:defRPr>
            </a:pPr>
            <a:r>
              <a:rPr sz="2850">
                <a:solidFill>
                  <a:srgbClr val="111827"/>
                </a:solidFill>
              </a:rPr>
              <a:t>Slide Deck to Study Guide Agent</a:t>
            </a:r>
            <a:endParaRPr sz="4500"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FE093EC8-171F-4C7A-B043-D6760D2A5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98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ENGR 689 Multimodal LLM Agents</a:t>
            </a:r>
            <a:endParaRPr sz="2100"/>
          </a:p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Mini-Project Presentation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1420740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>
            <a:extLst>
              <a:ext uri="{FF2B5EF4-FFF2-40B4-BE49-F238E27FC236}">
                <a16:creationId xmlns:a16="http://schemas.microsoft.com/office/drawing/2014/main" id="{A1D0AD72-AAFC-4CAD-B512-66FBE2B50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744575"/>
            <a:ext cx="8520600" cy="1827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111827"/>
                </a:solidFill>
              </a:defRPr>
            </a:pPr>
            <a:r>
              <a:rPr sz="3000">
                <a:solidFill>
                  <a:srgbClr val="111827"/>
                </a:solidFill>
              </a:rPr>
              <a:t>Slide Deck to Study Guide Agent</a:t>
            </a:r>
            <a:endParaRPr sz="4500"/>
          </a:p>
        </p:txBody>
      </p:sp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AF938194-3E17-4F2F-8AF6-7A75941CF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98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B6472"/>
                </a:solidFill>
              </a:defRPr>
            </a:pPr>
            <a:r>
              <a:rPr sz="1500" dirty="0">
                <a:solidFill>
                  <a:srgbClr val="5B6472"/>
                </a:solidFill>
              </a:rPr>
              <a:t>Prepared by: [Your Name]</a:t>
            </a:r>
            <a:endParaRPr sz="2100" dirty="0"/>
          </a:p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B6472"/>
                </a:solidFill>
              </a:defRPr>
            </a:pPr>
            <a:r>
              <a:rPr sz="1500" dirty="0">
                <a:solidFill>
                  <a:srgbClr val="5B6472"/>
                </a:solidFill>
              </a:rPr>
              <a:t>For ENGR 689 mini-project presentation</a:t>
            </a: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251660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0E03E39E-E69B-48BC-BE42-788C86790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Project description and goal</a:t>
            </a:r>
            <a:endParaRPr/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7D5C127D-7339-4443-8A05-F3C920D49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050" y="1104900"/>
            <a:ext cx="8286750" cy="419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35439"/>
          </a:bodyPr>
          <a:lstStyle/>
          <a:p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350">
                <a:solidFill>
                  <a:srgbClr val="5B6472"/>
                </a:solidFill>
              </a:defRPr>
            </a:pPr>
            <a:r>
              <a:rPr sz="1350" dirty="0">
                <a:solidFill>
                  <a:srgbClr val="5B6472"/>
                </a:solidFill>
              </a:rPr>
              <a:t>Goal: turn one lecture deck into a cited lesson review plus a quiz the student can retake.</a:t>
            </a:r>
            <a:endParaRPr dirty="0"/>
          </a:p>
        </p:txBody>
      </p:sp>
      <p:sp>
        <p:nvSpPr>
          <p:cNvPr id="73" name="s3-stage-0">
            <a:extLst>
              <a:ext uri="{FF2B5EF4-FFF2-40B4-BE49-F238E27FC236}">
                <a16:creationId xmlns:a16="http://schemas.microsoft.com/office/drawing/2014/main" id="{56F07885-81EA-447E-AFBA-ABF15899DDBF}"/>
              </a:ext>
            </a:extLst>
          </p:cNvPr>
          <p:cNvSpPr>
            <a:spLocks noGrp="1"/>
          </p:cNvSpPr>
          <p:nvPr/>
        </p:nvSpPr>
        <p:spPr>
          <a:xfrm>
            <a:off x="495300" y="1866900"/>
            <a:ext cx="1695450" cy="1200150"/>
          </a:xfrm>
          <a:prstGeom prst="roundRect">
            <a:avLst>
              <a:gd name="adj" fmla="val 6349"/>
            </a:avLst>
          </a:prstGeom>
          <a:solidFill>
            <a:srgbClr val="EEF4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3-stage-title-0">
            <a:extLst>
              <a:ext uri="{FF2B5EF4-FFF2-40B4-BE49-F238E27FC236}">
                <a16:creationId xmlns:a16="http://schemas.microsoft.com/office/drawing/2014/main" id="{6AD3A979-8566-4A1D-81B8-1428EFFB6974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Lecture PDF</a:t>
            </a:r>
          </a:p>
        </p:txBody>
      </p:sp>
      <p:sp>
        <p:nvSpPr>
          <p:cNvPr id="75" name="s3-stage-body-0">
            <a:extLst>
              <a:ext uri="{FF2B5EF4-FFF2-40B4-BE49-F238E27FC236}">
                <a16:creationId xmlns:a16="http://schemas.microsoft.com/office/drawing/2014/main" id="{1F25B25A-9B22-4105-9329-F59CBAE28C03}"/>
              </a:ext>
            </a:extLst>
          </p:cNvPr>
          <p:cNvSpPr>
            <a:spLocks noGrp="1"/>
          </p:cNvSpPr>
          <p:nvPr/>
        </p:nvSpPr>
        <p:spPr>
          <a:xfrm>
            <a:off x="647700" y="243840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5B6472"/>
                </a:solidFill>
              </a:defRPr>
            </a:pPr>
            <a:r>
              <a:rPr sz="1050">
                <a:solidFill>
                  <a:srgbClr val="5B6472"/>
                </a:solidFill>
              </a:rPr>
              <a:t>render each page</a:t>
            </a:r>
          </a:p>
        </p:txBody>
      </p:sp>
      <p:sp>
        <p:nvSpPr>
          <p:cNvPr id="76" name="s3-arrow-0">
            <a:extLst>
              <a:ext uri="{FF2B5EF4-FFF2-40B4-BE49-F238E27FC236}">
                <a16:creationId xmlns:a16="http://schemas.microsoft.com/office/drawing/2014/main" id="{A66EB393-D209-4584-B0AE-C0D0BBECCFA2}"/>
              </a:ext>
            </a:extLst>
          </p:cNvPr>
          <p:cNvSpPr>
            <a:spLocks noGrp="1"/>
          </p:cNvSpPr>
          <p:nvPr/>
        </p:nvSpPr>
        <p:spPr>
          <a:xfrm>
            <a:off x="2247900" y="23431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F5EFF"/>
                </a:solidFill>
              </a:defRPr>
            </a:pPr>
            <a:r>
              <a:rPr sz="1650" b="1">
                <a:solidFill>
                  <a:srgbClr val="1F5EFF"/>
                </a:solidFill>
              </a:rPr>
              <a:t>-&gt;</a:t>
            </a:r>
          </a:p>
        </p:txBody>
      </p:sp>
      <p:sp>
        <p:nvSpPr>
          <p:cNvPr id="77" name="s3-stage-1">
            <a:extLst>
              <a:ext uri="{FF2B5EF4-FFF2-40B4-BE49-F238E27FC236}">
                <a16:creationId xmlns:a16="http://schemas.microsoft.com/office/drawing/2014/main" id="{D20FAA6B-80F0-4234-8271-AAB4797EFFF9}"/>
              </a:ext>
            </a:extLst>
          </p:cNvPr>
          <p:cNvSpPr>
            <a:spLocks noGrp="1"/>
          </p:cNvSpPr>
          <p:nvPr/>
        </p:nvSpPr>
        <p:spPr>
          <a:xfrm>
            <a:off x="2581275" y="1866900"/>
            <a:ext cx="1695450" cy="1200150"/>
          </a:xfrm>
          <a:prstGeom prst="roundRect">
            <a:avLst>
              <a:gd name="adj" fmla="val 6349"/>
            </a:avLst>
          </a:prstGeom>
          <a:solidFill>
            <a:srgbClr val="EAF7F4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3-stage-title-1">
            <a:extLst>
              <a:ext uri="{FF2B5EF4-FFF2-40B4-BE49-F238E27FC236}">
                <a16:creationId xmlns:a16="http://schemas.microsoft.com/office/drawing/2014/main" id="{6453BE44-3EB3-4AE1-B25D-49320DCEE974}"/>
              </a:ext>
            </a:extLst>
          </p:cNvPr>
          <p:cNvSpPr>
            <a:spLocks noGrp="1"/>
          </p:cNvSpPr>
          <p:nvPr/>
        </p:nvSpPr>
        <p:spPr>
          <a:xfrm>
            <a:off x="2714625" y="20383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Slide notes</a:t>
            </a:r>
          </a:p>
        </p:txBody>
      </p:sp>
      <p:sp>
        <p:nvSpPr>
          <p:cNvPr id="79" name="s3-stage-body-1">
            <a:extLst>
              <a:ext uri="{FF2B5EF4-FFF2-40B4-BE49-F238E27FC236}">
                <a16:creationId xmlns:a16="http://schemas.microsoft.com/office/drawing/2014/main" id="{E4F6334A-8ABB-41EA-88BF-6BB0C2E6615E}"/>
              </a:ext>
            </a:extLst>
          </p:cNvPr>
          <p:cNvSpPr>
            <a:spLocks noGrp="1"/>
          </p:cNvSpPr>
          <p:nvPr/>
        </p:nvSpPr>
        <p:spPr>
          <a:xfrm>
            <a:off x="2733675" y="243840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5B6472"/>
                </a:solidFill>
              </a:defRPr>
            </a:pPr>
            <a:r>
              <a:rPr sz="1050">
                <a:solidFill>
                  <a:srgbClr val="5B6472"/>
                </a:solidFill>
              </a:rPr>
              <a:t>read prose and visuals</a:t>
            </a:r>
          </a:p>
        </p:txBody>
      </p:sp>
      <p:sp>
        <p:nvSpPr>
          <p:cNvPr id="80" name="s3-arrow-1">
            <a:extLst>
              <a:ext uri="{FF2B5EF4-FFF2-40B4-BE49-F238E27FC236}">
                <a16:creationId xmlns:a16="http://schemas.microsoft.com/office/drawing/2014/main" id="{5CA580C5-9FF9-4F4C-AAE4-C1E8BEDCBBCB}"/>
              </a:ext>
            </a:extLst>
          </p:cNvPr>
          <p:cNvSpPr>
            <a:spLocks noGrp="1"/>
          </p:cNvSpPr>
          <p:nvPr/>
        </p:nvSpPr>
        <p:spPr>
          <a:xfrm>
            <a:off x="4333875" y="23431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F5EFF"/>
                </a:solidFill>
              </a:defRPr>
            </a:pPr>
            <a:r>
              <a:rPr sz="1650" b="1">
                <a:solidFill>
                  <a:srgbClr val="1F5EFF"/>
                </a:solidFill>
              </a:rPr>
              <a:t>-&gt;</a:t>
            </a:r>
          </a:p>
        </p:txBody>
      </p:sp>
      <p:sp>
        <p:nvSpPr>
          <p:cNvPr id="81" name="s3-stage-2">
            <a:extLst>
              <a:ext uri="{FF2B5EF4-FFF2-40B4-BE49-F238E27FC236}">
                <a16:creationId xmlns:a16="http://schemas.microsoft.com/office/drawing/2014/main" id="{E470ABC3-4714-48E3-97D8-7E1A9BEE50A7}"/>
              </a:ext>
            </a:extLst>
          </p:cNvPr>
          <p:cNvSpPr>
            <a:spLocks noGrp="1"/>
          </p:cNvSpPr>
          <p:nvPr/>
        </p:nvSpPr>
        <p:spPr>
          <a:xfrm>
            <a:off x="4667250" y="1866900"/>
            <a:ext cx="1695450" cy="1200150"/>
          </a:xfrm>
          <a:prstGeom prst="roundRect">
            <a:avLst>
              <a:gd name="adj" fmla="val 6349"/>
            </a:avLst>
          </a:prstGeom>
          <a:solidFill>
            <a:srgbClr val="FFF4E2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3-stage-title-2">
            <a:extLst>
              <a:ext uri="{FF2B5EF4-FFF2-40B4-BE49-F238E27FC236}">
                <a16:creationId xmlns:a16="http://schemas.microsoft.com/office/drawing/2014/main" id="{12B0EBF2-EF2D-491E-BC0C-20056EF7C8DB}"/>
              </a:ext>
            </a:extLst>
          </p:cNvPr>
          <p:cNvSpPr>
            <a:spLocks noGrp="1"/>
          </p:cNvSpPr>
          <p:nvPr/>
        </p:nvSpPr>
        <p:spPr>
          <a:xfrm>
            <a:off x="4800600" y="20383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Lesson review</a:t>
            </a:r>
          </a:p>
        </p:txBody>
      </p:sp>
      <p:sp>
        <p:nvSpPr>
          <p:cNvPr id="83" name="s3-stage-body-2">
            <a:extLst>
              <a:ext uri="{FF2B5EF4-FFF2-40B4-BE49-F238E27FC236}">
                <a16:creationId xmlns:a16="http://schemas.microsoft.com/office/drawing/2014/main" id="{66A3DC93-A221-4C9D-90F9-5B2E871B9033}"/>
              </a:ext>
            </a:extLst>
          </p:cNvPr>
          <p:cNvSpPr>
            <a:spLocks noGrp="1"/>
          </p:cNvSpPr>
          <p:nvPr/>
        </p:nvSpPr>
        <p:spPr>
          <a:xfrm>
            <a:off x="4819650" y="243840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5B6472"/>
                </a:solidFill>
              </a:defRPr>
            </a:pPr>
            <a:r>
              <a:rPr sz="1050">
                <a:solidFill>
                  <a:srgbClr val="5B6472"/>
                </a:solidFill>
              </a:rPr>
              <a:t>explain with slide citations</a:t>
            </a:r>
          </a:p>
        </p:txBody>
      </p:sp>
      <p:sp>
        <p:nvSpPr>
          <p:cNvPr id="84" name="s3-arrow-2">
            <a:extLst>
              <a:ext uri="{FF2B5EF4-FFF2-40B4-BE49-F238E27FC236}">
                <a16:creationId xmlns:a16="http://schemas.microsoft.com/office/drawing/2014/main" id="{80F4CA93-A216-4B78-9B0B-F0A6D78A4188}"/>
              </a:ext>
            </a:extLst>
          </p:cNvPr>
          <p:cNvSpPr>
            <a:spLocks noGrp="1"/>
          </p:cNvSpPr>
          <p:nvPr/>
        </p:nvSpPr>
        <p:spPr>
          <a:xfrm>
            <a:off x="6419850" y="23431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F5EFF"/>
                </a:solidFill>
              </a:defRPr>
            </a:pPr>
            <a:r>
              <a:rPr sz="1650" b="1">
                <a:solidFill>
                  <a:srgbClr val="1F5EFF"/>
                </a:solidFill>
              </a:rPr>
              <a:t>-&gt;</a:t>
            </a:r>
          </a:p>
        </p:txBody>
      </p:sp>
      <p:sp>
        <p:nvSpPr>
          <p:cNvPr id="85" name="s3-stage-3">
            <a:extLst>
              <a:ext uri="{FF2B5EF4-FFF2-40B4-BE49-F238E27FC236}">
                <a16:creationId xmlns:a16="http://schemas.microsoft.com/office/drawing/2014/main" id="{E61BC360-B14B-4289-81C0-F9F9321038ED}"/>
              </a:ext>
            </a:extLst>
          </p:cNvPr>
          <p:cNvSpPr>
            <a:spLocks noGrp="1"/>
          </p:cNvSpPr>
          <p:nvPr/>
        </p:nvSpPr>
        <p:spPr>
          <a:xfrm>
            <a:off x="6753225" y="1866900"/>
            <a:ext cx="1695450" cy="1200150"/>
          </a:xfrm>
          <a:prstGeom prst="roundRect">
            <a:avLst>
              <a:gd name="adj" fmla="val 6349"/>
            </a:avLst>
          </a:prstGeom>
          <a:solidFill>
            <a:srgbClr val="F3F0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3-stage-title-3">
            <a:extLst>
              <a:ext uri="{FF2B5EF4-FFF2-40B4-BE49-F238E27FC236}">
                <a16:creationId xmlns:a16="http://schemas.microsoft.com/office/drawing/2014/main" id="{35CBBA05-97A2-493E-969D-C8D80CA5152A}"/>
              </a:ext>
            </a:extLst>
          </p:cNvPr>
          <p:cNvSpPr>
            <a:spLocks noGrp="1"/>
          </p:cNvSpPr>
          <p:nvPr/>
        </p:nvSpPr>
        <p:spPr>
          <a:xfrm>
            <a:off x="6886575" y="20383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Knowledge check</a:t>
            </a:r>
          </a:p>
        </p:txBody>
      </p:sp>
      <p:sp>
        <p:nvSpPr>
          <p:cNvPr id="87" name="s3-stage-body-3">
            <a:extLst>
              <a:ext uri="{FF2B5EF4-FFF2-40B4-BE49-F238E27FC236}">
                <a16:creationId xmlns:a16="http://schemas.microsoft.com/office/drawing/2014/main" id="{4C7593B4-7C89-4F8E-AA34-FA299C48C5BC}"/>
              </a:ext>
            </a:extLst>
          </p:cNvPr>
          <p:cNvSpPr>
            <a:spLocks noGrp="1"/>
          </p:cNvSpPr>
          <p:nvPr/>
        </p:nvSpPr>
        <p:spPr>
          <a:xfrm>
            <a:off x="6905625" y="2438400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5B6472"/>
                </a:solidFill>
              </a:defRPr>
            </a:pPr>
            <a:r>
              <a:rPr sz="1050">
                <a:solidFill>
                  <a:srgbClr val="5B6472"/>
                </a:solidFill>
              </a:rPr>
              <a:t>quiz, grade, and retake</a:t>
            </a:r>
          </a:p>
        </p:txBody>
      </p:sp>
      <p:sp>
        <p:nvSpPr>
          <p:cNvPr id="88" name="s3-bottom">
            <a:extLst>
              <a:ext uri="{FF2B5EF4-FFF2-40B4-BE49-F238E27FC236}">
                <a16:creationId xmlns:a16="http://schemas.microsoft.com/office/drawing/2014/main" id="{FFE5AB09-C73F-4D91-BF51-D5A2E95D357E}"/>
              </a:ext>
            </a:extLst>
          </p:cNvPr>
          <p:cNvSpPr>
            <a:spLocks noGrp="1"/>
          </p:cNvSpPr>
          <p:nvPr/>
        </p:nvSpPr>
        <p:spPr>
          <a:xfrm>
            <a:off x="1028700" y="3581400"/>
            <a:ext cx="7086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The important constraint: the image path must see the slide as a page image, not just extracted text.</a:t>
            </a:r>
          </a:p>
        </p:txBody>
      </p:sp>
    </p:spTree>
    <p:extLst>
      <p:ext uri="{BB962C8B-B14F-4D97-AF65-F5344CB8AC3E}">
        <p14:creationId xmlns:p14="http://schemas.microsoft.com/office/powerpoint/2010/main" val="2115878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>
            <a:extLst>
              <a:ext uri="{FF2B5EF4-FFF2-40B4-BE49-F238E27FC236}">
                <a16:creationId xmlns:a16="http://schemas.microsoft.com/office/drawing/2014/main" id="{002C916C-5FD1-46C4-88A4-09BDDDB2D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111827"/>
                </a:solidFill>
              </a:defRPr>
            </a:pPr>
            <a:r>
              <a:rPr sz="1950">
                <a:solidFill>
                  <a:srgbClr val="111827"/>
                </a:solidFill>
              </a:rPr>
              <a:t>Why this project matters: slides hide meaning in visuals</a:t>
            </a:r>
            <a:endParaRPr/>
          </a:p>
        </p:txBody>
      </p:sp>
      <p:sp>
        <p:nvSpPr>
          <p:cNvPr id="78" name="Google Shape;78;p17">
            <a:extLst>
              <a:ext uri="{FF2B5EF4-FFF2-40B4-BE49-F238E27FC236}">
                <a16:creationId xmlns:a16="http://schemas.microsoft.com/office/drawing/2014/main" id="{FCEB9CB8-AE02-4854-8E6B-3BAE39928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050" y="1066800"/>
            <a:ext cx="8286750" cy="419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35439"/>
          </a:bodyPr>
          <a:lstStyle/>
          <a:p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350">
                <a:solidFill>
                  <a:srgbClr val="5B6472"/>
                </a:solidFill>
              </a:defRPr>
            </a:pPr>
            <a:r>
              <a:rPr sz="1350" dirty="0">
                <a:solidFill>
                  <a:srgbClr val="5B6472"/>
                </a:solidFill>
              </a:rPr>
              <a:t>The project compares an image path against a text-only baseline because extraction misses figure content.</a:t>
            </a:r>
            <a:endParaRPr dirty="0"/>
          </a:p>
        </p:txBody>
      </p:sp>
      <p:pic>
        <p:nvPicPr>
          <p:cNvPr id="88" name="Picture 87"/>
          <p:cNvPicPr>
            <a:picLocks noChangeAspect="1"/>
          </p:cNvPicPr>
          <p:nvPr/>
        </p:nvPicPr>
        <p:blipFill>
          <a:blip r:embed="rId3"/>
          <a:srcRect l="484" r="484"/>
          <a:stretch>
            <a:fillRect/>
          </a:stretch>
        </p:blipFill>
        <p:spPr>
          <a:xfrm>
            <a:off x="495300" y="1733550"/>
            <a:ext cx="2381250" cy="1352550"/>
          </a:xfrm>
          <a:prstGeom prst="roundRect">
            <a:avLst>
              <a:gd name="adj" fmla="val 5634"/>
            </a:avLst>
          </a:prstGeom>
        </p:spPr>
      </p:pic>
      <p:pic>
        <p:nvPicPr>
          <p:cNvPr id="89" name="Picture 88"/>
          <p:cNvPicPr>
            <a:picLocks noChangeAspect="1"/>
          </p:cNvPicPr>
          <p:nvPr/>
        </p:nvPicPr>
        <p:blipFill>
          <a:blip r:embed="rId4"/>
          <a:srcRect l="484" r="484"/>
          <a:stretch>
            <a:fillRect/>
          </a:stretch>
        </p:blipFill>
        <p:spPr>
          <a:xfrm>
            <a:off x="3381375" y="1733550"/>
            <a:ext cx="2381250" cy="1352550"/>
          </a:xfrm>
          <a:prstGeom prst="roundRect">
            <a:avLst>
              <a:gd name="adj" fmla="val 5634"/>
            </a:avLst>
          </a:prstGeom>
        </p:spPr>
      </p:pic>
      <p:pic>
        <p:nvPicPr>
          <p:cNvPr id="90" name="Picture 89"/>
          <p:cNvPicPr>
            <a:picLocks noChangeAspect="1"/>
          </p:cNvPicPr>
          <p:nvPr/>
        </p:nvPicPr>
        <p:blipFill>
          <a:blip r:embed="rId5"/>
          <a:srcRect l="484" r="484"/>
          <a:stretch>
            <a:fillRect/>
          </a:stretch>
        </p:blipFill>
        <p:spPr>
          <a:xfrm>
            <a:off x="6267450" y="1733550"/>
            <a:ext cx="2381250" cy="1352550"/>
          </a:xfrm>
          <a:prstGeom prst="roundRect">
            <a:avLst>
              <a:gd name="adj" fmla="val 5634"/>
            </a:avLst>
          </a:prstGeom>
        </p:spPr>
      </p:pic>
      <p:sp>
        <p:nvSpPr>
          <p:cNvPr id="82" name="label-figure definition">
            <a:extLst>
              <a:ext uri="{FF2B5EF4-FFF2-40B4-BE49-F238E27FC236}">
                <a16:creationId xmlns:a16="http://schemas.microsoft.com/office/drawing/2014/main" id="{DA950B3C-B591-44C1-AB39-257D82E447E5}"/>
              </a:ext>
            </a:extLst>
          </p:cNvPr>
          <p:cNvSpPr>
            <a:spLocks noGrp="1"/>
          </p:cNvSpPr>
          <p:nvPr/>
        </p:nvSpPr>
        <p:spPr>
          <a:xfrm>
            <a:off x="781050" y="3200400"/>
            <a:ext cx="1809750" cy="266700"/>
          </a:xfrm>
          <a:prstGeom prst="roundRect">
            <a:avLst>
              <a:gd name="adj" fmla="val 28571"/>
            </a:avLst>
          </a:prstGeom>
          <a:solidFill>
            <a:srgbClr val="EEF4FF"/>
          </a:solidFill>
          <a:ln w="9525">
            <a:solidFill>
              <a:srgbClr val="EEF4FF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figure definition</a:t>
            </a:r>
          </a:p>
        </p:txBody>
      </p:sp>
      <p:sp>
        <p:nvSpPr>
          <p:cNvPr id="83" name="label-bar heights">
            <a:extLst>
              <a:ext uri="{FF2B5EF4-FFF2-40B4-BE49-F238E27FC236}">
                <a16:creationId xmlns:a16="http://schemas.microsoft.com/office/drawing/2014/main" id="{7AE4065B-085F-4A4F-9CD8-DC8D9AB4555F}"/>
              </a:ext>
            </a:extLst>
          </p:cNvPr>
          <p:cNvSpPr>
            <a:spLocks noGrp="1"/>
          </p:cNvSpPr>
          <p:nvPr/>
        </p:nvSpPr>
        <p:spPr>
          <a:xfrm>
            <a:off x="3667125" y="3200400"/>
            <a:ext cx="1809750" cy="266700"/>
          </a:xfrm>
          <a:prstGeom prst="roundRect">
            <a:avLst>
              <a:gd name="adj" fmla="val 28571"/>
            </a:avLst>
          </a:prstGeom>
          <a:solidFill>
            <a:srgbClr val="EAF7F4"/>
          </a:solidFill>
          <a:ln w="9525">
            <a:solidFill>
              <a:srgbClr val="EAF7F4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bar heights</a:t>
            </a:r>
          </a:p>
        </p:txBody>
      </p:sp>
      <p:sp>
        <p:nvSpPr>
          <p:cNvPr id="84" name="label-image comparison">
            <a:extLst>
              <a:ext uri="{FF2B5EF4-FFF2-40B4-BE49-F238E27FC236}">
                <a16:creationId xmlns:a16="http://schemas.microsoft.com/office/drawing/2014/main" id="{13D2E6E3-B5B6-4F82-9E62-F357E22A0392}"/>
              </a:ext>
            </a:extLst>
          </p:cNvPr>
          <p:cNvSpPr>
            <a:spLocks noGrp="1"/>
          </p:cNvSpPr>
          <p:nvPr/>
        </p:nvSpPr>
        <p:spPr>
          <a:xfrm>
            <a:off x="6553200" y="3200400"/>
            <a:ext cx="1809750" cy="266700"/>
          </a:xfrm>
          <a:prstGeom prst="roundRect">
            <a:avLst>
              <a:gd name="adj" fmla="val 28571"/>
            </a:avLst>
          </a:prstGeom>
          <a:solidFill>
            <a:srgbClr val="FFF4E2"/>
          </a:solidFill>
          <a:ln w="9525">
            <a:solidFill>
              <a:srgbClr val="FFF4E2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image comparison</a:t>
            </a:r>
          </a:p>
        </p:txBody>
      </p:sp>
      <p:sp>
        <p:nvSpPr>
          <p:cNvPr id="85" name="s4-claim">
            <a:extLst>
              <a:ext uri="{FF2B5EF4-FFF2-40B4-BE49-F238E27FC236}">
                <a16:creationId xmlns:a16="http://schemas.microsoft.com/office/drawing/2014/main" id="{0C5E6081-BD00-4CE3-80E7-301C48A83589}"/>
              </a:ext>
            </a:extLst>
          </p:cNvPr>
          <p:cNvSpPr>
            <a:spLocks noGrp="1"/>
          </p:cNvSpPr>
          <p:nvPr/>
        </p:nvSpPr>
        <p:spPr>
          <a:xfrm>
            <a:off x="990600" y="3762375"/>
            <a:ext cx="716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 dirty="0">
                <a:solidFill>
                  <a:srgbClr val="111827"/>
                </a:solidFill>
              </a:rPr>
              <a:t>These are not decorative examples; each one carries a fact that ordinary PDF text extraction can lose.</a:t>
            </a:r>
          </a:p>
        </p:txBody>
      </p:sp>
    </p:spTree>
    <p:extLst>
      <p:ext uri="{BB962C8B-B14F-4D97-AF65-F5344CB8AC3E}">
        <p14:creationId xmlns:p14="http://schemas.microsoft.com/office/powerpoint/2010/main" val="1086972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>
            <a:extLst>
              <a:ext uri="{FF2B5EF4-FFF2-40B4-BE49-F238E27FC236}">
                <a16:creationId xmlns:a16="http://schemas.microsoft.com/office/drawing/2014/main" id="{5E9C87B6-D531-48A6-8347-84686AC26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How do we build this application</a:t>
            </a:r>
            <a:endParaRPr/>
          </a:p>
        </p:txBody>
      </p:sp>
      <p:sp>
        <p:nvSpPr>
          <p:cNvPr id="84" name="Google Shape;84;p18">
            <a:extLst>
              <a:ext uri="{FF2B5EF4-FFF2-40B4-BE49-F238E27FC236}">
                <a16:creationId xmlns:a16="http://schemas.microsoft.com/office/drawing/2014/main" id="{7B5E22A6-8178-4DBF-B3BF-C8B1A1693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050" y="1066800"/>
            <a:ext cx="8286750" cy="419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35439"/>
          </a:bodyPr>
          <a:lstStyle/>
          <a:p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Implementation is staged so each boundary writes auditable artifacts before the next model call reads them.</a:t>
            </a:r>
            <a:endParaRPr/>
          </a:p>
        </p:txBody>
      </p:sp>
      <p:sp>
        <p:nvSpPr>
          <p:cNvPr id="85" name="s5-stage-0">
            <a:extLst>
              <a:ext uri="{FF2B5EF4-FFF2-40B4-BE49-F238E27FC236}">
                <a16:creationId xmlns:a16="http://schemas.microsoft.com/office/drawing/2014/main" id="{2FD8AE52-31B0-4ED3-A9B4-9CCFF4047901}"/>
              </a:ext>
            </a:extLst>
          </p:cNvPr>
          <p:cNvSpPr>
            <a:spLocks noGrp="1"/>
          </p:cNvSpPr>
          <p:nvPr/>
        </p:nvSpPr>
        <p:spPr>
          <a:xfrm>
            <a:off x="428625" y="1695450"/>
            <a:ext cx="990600" cy="590550"/>
          </a:xfrm>
          <a:prstGeom prst="roundRect">
            <a:avLst>
              <a:gd name="adj" fmla="val 12903"/>
            </a:avLst>
          </a:prstGeom>
          <a:solidFill>
            <a:srgbClr val="EEF4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5-stage-text-0">
            <a:extLst>
              <a:ext uri="{FF2B5EF4-FFF2-40B4-BE49-F238E27FC236}">
                <a16:creationId xmlns:a16="http://schemas.microsoft.com/office/drawing/2014/main" id="{DE4C7F70-2016-4508-9E36-2FA1FCFCC431}"/>
              </a:ext>
            </a:extLst>
          </p:cNvPr>
          <p:cNvSpPr>
            <a:spLocks noGrp="1"/>
          </p:cNvSpPr>
          <p:nvPr/>
        </p:nvSpPr>
        <p:spPr>
          <a:xfrm>
            <a:off x="485775" y="18859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Render</a:t>
            </a:r>
          </a:p>
        </p:txBody>
      </p:sp>
      <p:sp>
        <p:nvSpPr>
          <p:cNvPr id="87" name="s5-arrow-0">
            <a:extLst>
              <a:ext uri="{FF2B5EF4-FFF2-40B4-BE49-F238E27FC236}">
                <a16:creationId xmlns:a16="http://schemas.microsoft.com/office/drawing/2014/main" id="{DFBD80C7-B6F0-43A3-9F14-2276A77190E5}"/>
              </a:ext>
            </a:extLst>
          </p:cNvPr>
          <p:cNvSpPr>
            <a:spLocks noGrp="1"/>
          </p:cNvSpPr>
          <p:nvPr/>
        </p:nvSpPr>
        <p:spPr>
          <a:xfrm>
            <a:off x="1400175" y="187642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5EFF"/>
                </a:solidFill>
              </a:defRPr>
            </a:pPr>
            <a:r>
              <a:rPr sz="1200" b="1">
                <a:solidFill>
                  <a:srgbClr val="1F5EFF"/>
                </a:solidFill>
              </a:rPr>
              <a:t>-&gt;</a:t>
            </a:r>
          </a:p>
        </p:txBody>
      </p:sp>
      <p:sp>
        <p:nvSpPr>
          <p:cNvPr id="88" name="s5-stage-1">
            <a:extLst>
              <a:ext uri="{FF2B5EF4-FFF2-40B4-BE49-F238E27FC236}">
                <a16:creationId xmlns:a16="http://schemas.microsoft.com/office/drawing/2014/main" id="{F268936D-E56F-4E94-9974-C9FFE82D2456}"/>
              </a:ext>
            </a:extLst>
          </p:cNvPr>
          <p:cNvSpPr>
            <a:spLocks noGrp="1"/>
          </p:cNvSpPr>
          <p:nvPr/>
        </p:nvSpPr>
        <p:spPr>
          <a:xfrm>
            <a:off x="1628775" y="1695450"/>
            <a:ext cx="990600" cy="590550"/>
          </a:xfrm>
          <a:prstGeom prst="roundRect">
            <a:avLst>
              <a:gd name="adj" fmla="val 12903"/>
            </a:avLst>
          </a:prstGeom>
          <a:solidFill>
            <a:srgbClr val="EAF7F4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5-stage-text-1">
            <a:extLst>
              <a:ext uri="{FF2B5EF4-FFF2-40B4-BE49-F238E27FC236}">
                <a16:creationId xmlns:a16="http://schemas.microsoft.com/office/drawing/2014/main" id="{4170A97F-9EFE-4095-8C34-E69A0801165F}"/>
              </a:ext>
            </a:extLst>
          </p:cNvPr>
          <p:cNvSpPr>
            <a:spLocks noGrp="1"/>
          </p:cNvSpPr>
          <p:nvPr/>
        </p:nvSpPr>
        <p:spPr>
          <a:xfrm>
            <a:off x="1685925" y="18859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Read pages</a:t>
            </a:r>
          </a:p>
        </p:txBody>
      </p:sp>
      <p:sp>
        <p:nvSpPr>
          <p:cNvPr id="90" name="s5-arrow-1">
            <a:extLst>
              <a:ext uri="{FF2B5EF4-FFF2-40B4-BE49-F238E27FC236}">
                <a16:creationId xmlns:a16="http://schemas.microsoft.com/office/drawing/2014/main" id="{21D486D6-0F8A-4948-83DD-724702D69D5D}"/>
              </a:ext>
            </a:extLst>
          </p:cNvPr>
          <p:cNvSpPr>
            <a:spLocks noGrp="1"/>
          </p:cNvSpPr>
          <p:nvPr/>
        </p:nvSpPr>
        <p:spPr>
          <a:xfrm>
            <a:off x="2600325" y="187642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5EFF"/>
                </a:solidFill>
              </a:defRPr>
            </a:pPr>
            <a:r>
              <a:rPr sz="1200" b="1">
                <a:solidFill>
                  <a:srgbClr val="1F5EFF"/>
                </a:solidFill>
              </a:rPr>
              <a:t>-&gt;</a:t>
            </a:r>
          </a:p>
        </p:txBody>
      </p:sp>
      <p:sp>
        <p:nvSpPr>
          <p:cNvPr id="91" name="s5-stage-2">
            <a:extLst>
              <a:ext uri="{FF2B5EF4-FFF2-40B4-BE49-F238E27FC236}">
                <a16:creationId xmlns:a16="http://schemas.microsoft.com/office/drawing/2014/main" id="{E61B74EC-D12B-4412-902C-72729972C82E}"/>
              </a:ext>
            </a:extLst>
          </p:cNvPr>
          <p:cNvSpPr>
            <a:spLocks noGrp="1"/>
          </p:cNvSpPr>
          <p:nvPr/>
        </p:nvSpPr>
        <p:spPr>
          <a:xfrm>
            <a:off x="2828925" y="1695450"/>
            <a:ext cx="990600" cy="590550"/>
          </a:xfrm>
          <a:prstGeom prst="roundRect">
            <a:avLst>
              <a:gd name="adj" fmla="val 12903"/>
            </a:avLst>
          </a:prstGeom>
          <a:solidFill>
            <a:srgbClr val="FFF4E2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5-stage-text-2">
            <a:extLst>
              <a:ext uri="{FF2B5EF4-FFF2-40B4-BE49-F238E27FC236}">
                <a16:creationId xmlns:a16="http://schemas.microsoft.com/office/drawing/2014/main" id="{25888E18-6AD5-485C-8975-2B2A4818A9D1}"/>
              </a:ext>
            </a:extLst>
          </p:cNvPr>
          <p:cNvSpPr>
            <a:spLocks noGrp="1"/>
          </p:cNvSpPr>
          <p:nvPr/>
        </p:nvSpPr>
        <p:spPr>
          <a:xfrm>
            <a:off x="2886075" y="18859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Outline</a:t>
            </a:r>
          </a:p>
        </p:txBody>
      </p:sp>
      <p:sp>
        <p:nvSpPr>
          <p:cNvPr id="93" name="s5-arrow-2">
            <a:extLst>
              <a:ext uri="{FF2B5EF4-FFF2-40B4-BE49-F238E27FC236}">
                <a16:creationId xmlns:a16="http://schemas.microsoft.com/office/drawing/2014/main" id="{65719CD1-C577-4CEE-BDAE-DAF972B2832A}"/>
              </a:ext>
            </a:extLst>
          </p:cNvPr>
          <p:cNvSpPr>
            <a:spLocks noGrp="1"/>
          </p:cNvSpPr>
          <p:nvPr/>
        </p:nvSpPr>
        <p:spPr>
          <a:xfrm>
            <a:off x="3800475" y="187642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5EFF"/>
                </a:solidFill>
              </a:defRPr>
            </a:pPr>
            <a:r>
              <a:rPr sz="1200" b="1">
                <a:solidFill>
                  <a:srgbClr val="1F5EFF"/>
                </a:solidFill>
              </a:rPr>
              <a:t>-&gt;</a:t>
            </a:r>
          </a:p>
        </p:txBody>
      </p:sp>
      <p:sp>
        <p:nvSpPr>
          <p:cNvPr id="94" name="s5-stage-3">
            <a:extLst>
              <a:ext uri="{FF2B5EF4-FFF2-40B4-BE49-F238E27FC236}">
                <a16:creationId xmlns:a16="http://schemas.microsoft.com/office/drawing/2014/main" id="{AFD40695-9914-4B6E-856E-15B6AAF4F7F3}"/>
              </a:ext>
            </a:extLst>
          </p:cNvPr>
          <p:cNvSpPr>
            <a:spLocks noGrp="1"/>
          </p:cNvSpPr>
          <p:nvPr/>
        </p:nvSpPr>
        <p:spPr>
          <a:xfrm>
            <a:off x="4029075" y="1695450"/>
            <a:ext cx="990600" cy="590550"/>
          </a:xfrm>
          <a:prstGeom prst="roundRect">
            <a:avLst>
              <a:gd name="adj" fmla="val 12903"/>
            </a:avLst>
          </a:prstGeom>
          <a:solidFill>
            <a:srgbClr val="EEF4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5-stage-text-3">
            <a:extLst>
              <a:ext uri="{FF2B5EF4-FFF2-40B4-BE49-F238E27FC236}">
                <a16:creationId xmlns:a16="http://schemas.microsoft.com/office/drawing/2014/main" id="{7D696044-FC98-4815-AD31-645E0F0AB120}"/>
              </a:ext>
            </a:extLst>
          </p:cNvPr>
          <p:cNvSpPr>
            <a:spLocks noGrp="1"/>
          </p:cNvSpPr>
          <p:nvPr/>
        </p:nvSpPr>
        <p:spPr>
          <a:xfrm>
            <a:off x="4086225" y="18859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Research</a:t>
            </a:r>
          </a:p>
        </p:txBody>
      </p:sp>
      <p:sp>
        <p:nvSpPr>
          <p:cNvPr id="96" name="s5-arrow-3">
            <a:extLst>
              <a:ext uri="{FF2B5EF4-FFF2-40B4-BE49-F238E27FC236}">
                <a16:creationId xmlns:a16="http://schemas.microsoft.com/office/drawing/2014/main" id="{CDAF4A93-D11F-4415-83A6-3D39813C122D}"/>
              </a:ext>
            </a:extLst>
          </p:cNvPr>
          <p:cNvSpPr>
            <a:spLocks noGrp="1"/>
          </p:cNvSpPr>
          <p:nvPr/>
        </p:nvSpPr>
        <p:spPr>
          <a:xfrm>
            <a:off x="5000625" y="187642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5EFF"/>
                </a:solidFill>
              </a:defRPr>
            </a:pPr>
            <a:r>
              <a:rPr sz="1200" b="1">
                <a:solidFill>
                  <a:srgbClr val="1F5EFF"/>
                </a:solidFill>
              </a:rPr>
              <a:t>-&gt;</a:t>
            </a:r>
          </a:p>
        </p:txBody>
      </p:sp>
      <p:sp>
        <p:nvSpPr>
          <p:cNvPr id="97" name="s5-stage-4">
            <a:extLst>
              <a:ext uri="{FF2B5EF4-FFF2-40B4-BE49-F238E27FC236}">
                <a16:creationId xmlns:a16="http://schemas.microsoft.com/office/drawing/2014/main" id="{15D25EDB-54E4-4BE2-8CE1-A5DE56B93B52}"/>
              </a:ext>
            </a:extLst>
          </p:cNvPr>
          <p:cNvSpPr>
            <a:spLocks noGrp="1"/>
          </p:cNvSpPr>
          <p:nvPr/>
        </p:nvSpPr>
        <p:spPr>
          <a:xfrm>
            <a:off x="5229225" y="1695450"/>
            <a:ext cx="990600" cy="590550"/>
          </a:xfrm>
          <a:prstGeom prst="roundRect">
            <a:avLst>
              <a:gd name="adj" fmla="val 12903"/>
            </a:avLst>
          </a:prstGeom>
          <a:solidFill>
            <a:srgbClr val="EAF7F4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5-stage-text-4">
            <a:extLst>
              <a:ext uri="{FF2B5EF4-FFF2-40B4-BE49-F238E27FC236}">
                <a16:creationId xmlns:a16="http://schemas.microsoft.com/office/drawing/2014/main" id="{F45668C8-2BFA-4600-AD1E-82477DC5BB9F}"/>
              </a:ext>
            </a:extLst>
          </p:cNvPr>
          <p:cNvSpPr>
            <a:spLocks noGrp="1"/>
          </p:cNvSpPr>
          <p:nvPr/>
        </p:nvSpPr>
        <p:spPr>
          <a:xfrm>
            <a:off x="5286375" y="18859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Review</a:t>
            </a:r>
          </a:p>
        </p:txBody>
      </p:sp>
      <p:sp>
        <p:nvSpPr>
          <p:cNvPr id="99" name="s5-arrow-4">
            <a:extLst>
              <a:ext uri="{FF2B5EF4-FFF2-40B4-BE49-F238E27FC236}">
                <a16:creationId xmlns:a16="http://schemas.microsoft.com/office/drawing/2014/main" id="{CCB87D72-8A71-48A1-9A7A-FD8D37C4681D}"/>
              </a:ext>
            </a:extLst>
          </p:cNvPr>
          <p:cNvSpPr>
            <a:spLocks noGrp="1"/>
          </p:cNvSpPr>
          <p:nvPr/>
        </p:nvSpPr>
        <p:spPr>
          <a:xfrm>
            <a:off x="6200775" y="187642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5EFF"/>
                </a:solidFill>
              </a:defRPr>
            </a:pPr>
            <a:r>
              <a:rPr sz="1200" b="1">
                <a:solidFill>
                  <a:srgbClr val="1F5EFF"/>
                </a:solidFill>
              </a:rPr>
              <a:t>-&gt;</a:t>
            </a:r>
          </a:p>
        </p:txBody>
      </p:sp>
      <p:sp>
        <p:nvSpPr>
          <p:cNvPr id="100" name="s5-stage-5">
            <a:extLst>
              <a:ext uri="{FF2B5EF4-FFF2-40B4-BE49-F238E27FC236}">
                <a16:creationId xmlns:a16="http://schemas.microsoft.com/office/drawing/2014/main" id="{BCA7D0AA-701C-4181-8445-548F39883FB1}"/>
              </a:ext>
            </a:extLst>
          </p:cNvPr>
          <p:cNvSpPr>
            <a:spLocks noGrp="1"/>
          </p:cNvSpPr>
          <p:nvPr/>
        </p:nvSpPr>
        <p:spPr>
          <a:xfrm>
            <a:off x="6429375" y="1695450"/>
            <a:ext cx="990600" cy="590550"/>
          </a:xfrm>
          <a:prstGeom prst="roundRect">
            <a:avLst>
              <a:gd name="adj" fmla="val 12903"/>
            </a:avLst>
          </a:prstGeom>
          <a:solidFill>
            <a:srgbClr val="FFF4E2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5-stage-text-5">
            <a:extLst>
              <a:ext uri="{FF2B5EF4-FFF2-40B4-BE49-F238E27FC236}">
                <a16:creationId xmlns:a16="http://schemas.microsoft.com/office/drawing/2014/main" id="{CFC994AE-FBBC-45B5-A450-8BB3A7BF2B61}"/>
              </a:ext>
            </a:extLst>
          </p:cNvPr>
          <p:cNvSpPr>
            <a:spLocks noGrp="1"/>
          </p:cNvSpPr>
          <p:nvPr/>
        </p:nvSpPr>
        <p:spPr>
          <a:xfrm>
            <a:off x="6486525" y="18859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Quiz</a:t>
            </a:r>
          </a:p>
        </p:txBody>
      </p:sp>
      <p:sp>
        <p:nvSpPr>
          <p:cNvPr id="102" name="s5-arrow-5">
            <a:extLst>
              <a:ext uri="{FF2B5EF4-FFF2-40B4-BE49-F238E27FC236}">
                <a16:creationId xmlns:a16="http://schemas.microsoft.com/office/drawing/2014/main" id="{9D4C5556-378E-4C4D-A102-B798704F1DE2}"/>
              </a:ext>
            </a:extLst>
          </p:cNvPr>
          <p:cNvSpPr>
            <a:spLocks noGrp="1"/>
          </p:cNvSpPr>
          <p:nvPr/>
        </p:nvSpPr>
        <p:spPr>
          <a:xfrm>
            <a:off x="7400925" y="187642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5EFF"/>
                </a:solidFill>
              </a:defRPr>
            </a:pPr>
            <a:r>
              <a:rPr sz="1200" b="1">
                <a:solidFill>
                  <a:srgbClr val="1F5EFF"/>
                </a:solidFill>
              </a:rPr>
              <a:t>-&gt;</a:t>
            </a:r>
          </a:p>
        </p:txBody>
      </p:sp>
      <p:sp>
        <p:nvSpPr>
          <p:cNvPr id="103" name="s5-stage-6">
            <a:extLst>
              <a:ext uri="{FF2B5EF4-FFF2-40B4-BE49-F238E27FC236}">
                <a16:creationId xmlns:a16="http://schemas.microsoft.com/office/drawing/2014/main" id="{F9F9502C-71CB-4D09-9695-6F5CBCBE5CB9}"/>
              </a:ext>
            </a:extLst>
          </p:cNvPr>
          <p:cNvSpPr>
            <a:spLocks noGrp="1"/>
          </p:cNvSpPr>
          <p:nvPr/>
        </p:nvSpPr>
        <p:spPr>
          <a:xfrm>
            <a:off x="7629525" y="1695450"/>
            <a:ext cx="990600" cy="590550"/>
          </a:xfrm>
          <a:prstGeom prst="roundRect">
            <a:avLst>
              <a:gd name="adj" fmla="val 12903"/>
            </a:avLst>
          </a:prstGeom>
          <a:solidFill>
            <a:srgbClr val="EEF4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5-stage-text-6">
            <a:extLst>
              <a:ext uri="{FF2B5EF4-FFF2-40B4-BE49-F238E27FC236}">
                <a16:creationId xmlns:a16="http://schemas.microsoft.com/office/drawing/2014/main" id="{E371770C-40AE-4B15-B530-A13371D3467C}"/>
              </a:ext>
            </a:extLst>
          </p:cNvPr>
          <p:cNvSpPr>
            <a:spLocks noGrp="1"/>
          </p:cNvSpPr>
          <p:nvPr/>
        </p:nvSpPr>
        <p:spPr>
          <a:xfrm>
            <a:off x="7686675" y="18859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Memory</a:t>
            </a:r>
          </a:p>
        </p:txBody>
      </p:sp>
      <p:sp>
        <p:nvSpPr>
          <p:cNvPr id="105" name="s5-left">
            <a:extLst>
              <a:ext uri="{FF2B5EF4-FFF2-40B4-BE49-F238E27FC236}">
                <a16:creationId xmlns:a16="http://schemas.microsoft.com/office/drawing/2014/main" id="{4E49808E-2A4F-4B7C-BD34-BF9393BA16C0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3543300" cy="1123950"/>
          </a:xfrm>
          <a:prstGeom prst="roundRect">
            <a:avLst>
              <a:gd name="adj" fmla="val 6780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5-left-title">
            <a:extLst>
              <a:ext uri="{FF2B5EF4-FFF2-40B4-BE49-F238E27FC236}">
                <a16:creationId xmlns:a16="http://schemas.microsoft.com/office/drawing/2014/main" id="{CD52A7E4-AC53-4D5B-9BCB-5CCEDBCE69B7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F9D8A"/>
                </a:solidFill>
              </a:defRPr>
            </a:pPr>
            <a:r>
              <a:rPr sz="1350" b="1">
                <a:solidFill>
                  <a:srgbClr val="1F9D8A"/>
                </a:solidFill>
              </a:rPr>
              <a:t>Currently implemented</a:t>
            </a:r>
          </a:p>
        </p:txBody>
      </p:sp>
      <p:sp>
        <p:nvSpPr>
          <p:cNvPr id="107" name="s5-left-body">
            <a:extLst>
              <a:ext uri="{FF2B5EF4-FFF2-40B4-BE49-F238E27FC236}">
                <a16:creationId xmlns:a16="http://schemas.microsoft.com/office/drawing/2014/main" id="{68559D02-2657-400E-A213-E13286AAA27B}"/>
              </a:ext>
            </a:extLst>
          </p:cNvPr>
          <p:cNvSpPr>
            <a:spLocks noGrp="1"/>
          </p:cNvSpPr>
          <p:nvPr/>
        </p:nvSpPr>
        <p:spPr>
          <a:xfrm>
            <a:off x="914400" y="3371850"/>
            <a:ext cx="31242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Strict Pydantic data schemas</a:t>
            </a:r>
          </a:p>
          <a:p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PDF render and preflight stage</a:t>
            </a:r>
          </a:p>
          <a:p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Run/memory path helpers</a:t>
            </a:r>
          </a:p>
          <a:p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Tests for schemas, paths, render, config</a:t>
            </a:r>
          </a:p>
        </p:txBody>
      </p:sp>
      <p:sp>
        <p:nvSpPr>
          <p:cNvPr id="108" name="s5-right">
            <a:extLst>
              <a:ext uri="{FF2B5EF4-FFF2-40B4-BE49-F238E27FC236}">
                <a16:creationId xmlns:a16="http://schemas.microsoft.com/office/drawing/2014/main" id="{0405B19E-7367-440B-AF52-6346D0A24CD2}"/>
              </a:ext>
            </a:extLst>
          </p:cNvPr>
          <p:cNvSpPr>
            <a:spLocks noGrp="1"/>
          </p:cNvSpPr>
          <p:nvPr/>
        </p:nvSpPr>
        <p:spPr>
          <a:xfrm>
            <a:off x="4876800" y="2914650"/>
            <a:ext cx="3543300" cy="1123950"/>
          </a:xfrm>
          <a:prstGeom prst="roundRect">
            <a:avLst>
              <a:gd name="adj" fmla="val 6780"/>
            </a:avLst>
          </a:prstGeom>
          <a:solidFill>
            <a:srgbClr val="FFF8ED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5-right-title">
            <a:extLst>
              <a:ext uri="{FF2B5EF4-FFF2-40B4-BE49-F238E27FC236}">
                <a16:creationId xmlns:a16="http://schemas.microsoft.com/office/drawing/2014/main" id="{4E2D1FA0-EF1A-44D6-9495-7F847C654347}"/>
              </a:ext>
            </a:extLst>
          </p:cNvPr>
          <p:cNvSpPr>
            <a:spLocks noGrp="1"/>
          </p:cNvSpPr>
          <p:nvPr/>
        </p:nvSpPr>
        <p:spPr>
          <a:xfrm>
            <a:off x="5067300" y="30670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C47A19"/>
                </a:solidFill>
              </a:defRPr>
            </a:pPr>
            <a:r>
              <a:rPr sz="1350" b="1">
                <a:solidFill>
                  <a:srgbClr val="C47A19"/>
                </a:solidFill>
              </a:rPr>
              <a:t>Next implementation stages</a:t>
            </a:r>
          </a:p>
        </p:txBody>
      </p:sp>
      <p:sp>
        <p:nvSpPr>
          <p:cNvPr id="110" name="s5-right-body">
            <a:extLst>
              <a:ext uri="{FF2B5EF4-FFF2-40B4-BE49-F238E27FC236}">
                <a16:creationId xmlns:a16="http://schemas.microsoft.com/office/drawing/2014/main" id="{E22C5296-8812-40B1-9F85-1E0EF0423639}"/>
              </a:ext>
            </a:extLst>
          </p:cNvPr>
          <p:cNvSpPr>
            <a:spLocks noGrp="1"/>
          </p:cNvSpPr>
          <p:nvPr/>
        </p:nvSpPr>
        <p:spPr>
          <a:xfrm>
            <a:off x="5067300" y="3371850"/>
            <a:ext cx="31242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Vision page reader and text baseline</a:t>
            </a:r>
          </a:p>
          <a:p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Outline, research, review writer</a:t>
            </a:r>
          </a:p>
          <a:p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Quiz, grader, topic memory, replay UI</a:t>
            </a:r>
          </a:p>
        </p:txBody>
      </p:sp>
    </p:spTree>
    <p:extLst>
      <p:ext uri="{BB962C8B-B14F-4D97-AF65-F5344CB8AC3E}">
        <p14:creationId xmlns:p14="http://schemas.microsoft.com/office/powerpoint/2010/main" val="1835775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>
            <a:extLst>
              <a:ext uri="{FF2B5EF4-FFF2-40B4-BE49-F238E27FC236}">
                <a16:creationId xmlns:a16="http://schemas.microsoft.com/office/drawing/2014/main" id="{B945D019-FF6D-4B03-B815-D9B2752F5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Demo and evaluation</a:t>
            </a:r>
            <a:endParaRPr/>
          </a:p>
        </p:txBody>
      </p:sp>
      <p:sp>
        <p:nvSpPr>
          <p:cNvPr id="90" name="Google Shape;90;p19">
            <a:extLst>
              <a:ext uri="{FF2B5EF4-FFF2-40B4-BE49-F238E27FC236}">
                <a16:creationId xmlns:a16="http://schemas.microsoft.com/office/drawing/2014/main" id="{7FDECBAF-2146-498D-8DF7-5035CC802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050" y="1066800"/>
            <a:ext cx="8286750" cy="47625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59594"/>
          </a:bodyPr>
          <a:lstStyle/>
          <a:p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The demo can replay a saved run; the evaluation asks whether visual facts survive into the agent's notes and quiz citations.</a:t>
            </a:r>
            <a:endParaRPr/>
          </a:p>
        </p:txBody>
      </p:sp>
      <p:sp>
        <p:nvSpPr>
          <p:cNvPr id="91" name="s6-demo">
            <a:extLst>
              <a:ext uri="{FF2B5EF4-FFF2-40B4-BE49-F238E27FC236}">
                <a16:creationId xmlns:a16="http://schemas.microsoft.com/office/drawing/2014/main" id="{09648DE1-AB09-44C0-BF57-FF3DE3A70F43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3333750" cy="2000250"/>
          </a:xfrm>
          <a:prstGeom prst="roundRect">
            <a:avLst>
              <a:gd name="adj" fmla="val 3810"/>
            </a:avLst>
          </a:prstGeom>
          <a:solidFill>
            <a:srgbClr val="EEF4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6-demo-title">
            <a:extLst>
              <a:ext uri="{FF2B5EF4-FFF2-40B4-BE49-F238E27FC236}">
                <a16:creationId xmlns:a16="http://schemas.microsoft.com/office/drawing/2014/main" id="{8157D2FE-32B2-4C02-BFF4-A6916F075355}"/>
              </a:ext>
            </a:extLst>
          </p:cNvPr>
          <p:cNvSpPr>
            <a:spLocks noGrp="1"/>
          </p:cNvSpPr>
          <p:nvPr/>
        </p:nvSpPr>
        <p:spPr>
          <a:xfrm>
            <a:off x="800100" y="19812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F5EFF"/>
                </a:solidFill>
              </a:defRPr>
            </a:pPr>
            <a:r>
              <a:rPr sz="1500" b="1">
                <a:solidFill>
                  <a:srgbClr val="1F5EFF"/>
                </a:solidFill>
              </a:rPr>
              <a:t>Demo flow</a:t>
            </a:r>
          </a:p>
        </p:txBody>
      </p:sp>
      <p:sp>
        <p:nvSpPr>
          <p:cNvPr id="93" name="s6-demo-body">
            <a:extLst>
              <a:ext uri="{FF2B5EF4-FFF2-40B4-BE49-F238E27FC236}">
                <a16:creationId xmlns:a16="http://schemas.microsoft.com/office/drawing/2014/main" id="{34735BE5-2289-4E30-8AB5-97A4C92F0AE2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27051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1. Upload Day 3 lecture deck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2. Watch seven stage boxes complete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3. Compare image and text reviews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4. Take quiz and see topic rollup</a:t>
            </a:r>
          </a:p>
        </p:txBody>
      </p:sp>
      <p:sp>
        <p:nvSpPr>
          <p:cNvPr id="94" name="s6-eval">
            <a:extLst>
              <a:ext uri="{FF2B5EF4-FFF2-40B4-BE49-F238E27FC236}">
                <a16:creationId xmlns:a16="http://schemas.microsoft.com/office/drawing/2014/main" id="{0C3E4D88-70C5-4698-8ED9-CA7FFCE97E49}"/>
              </a:ext>
            </a:extLst>
          </p:cNvPr>
          <p:cNvSpPr>
            <a:spLocks noGrp="1"/>
          </p:cNvSpPr>
          <p:nvPr/>
        </p:nvSpPr>
        <p:spPr>
          <a:xfrm>
            <a:off x="4457700" y="1809750"/>
            <a:ext cx="4000500" cy="2000250"/>
          </a:xfrm>
          <a:prstGeom prst="roundRect">
            <a:avLst>
              <a:gd name="adj" fmla="val 3810"/>
            </a:avLst>
          </a:prstGeom>
          <a:solidFill>
            <a:srgbClr val="EAF7F4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6-eval-title">
            <a:extLst>
              <a:ext uri="{FF2B5EF4-FFF2-40B4-BE49-F238E27FC236}">
                <a16:creationId xmlns:a16="http://schemas.microsoft.com/office/drawing/2014/main" id="{9A5D2800-51C7-4833-83EE-5F62A3EB8B3A}"/>
              </a:ext>
            </a:extLst>
          </p:cNvPr>
          <p:cNvSpPr>
            <a:spLocks noGrp="1"/>
          </p:cNvSpPr>
          <p:nvPr/>
        </p:nvSpPr>
        <p:spPr>
          <a:xfrm>
            <a:off x="4686300" y="19812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F9D8A"/>
                </a:solidFill>
              </a:defRPr>
            </a:pPr>
            <a:r>
              <a:rPr sz="1500" b="1">
                <a:solidFill>
                  <a:srgbClr val="1F9D8A"/>
                </a:solidFill>
              </a:rPr>
              <a:t>Evaluation plan</a:t>
            </a:r>
          </a:p>
        </p:txBody>
      </p:sp>
      <p:sp>
        <p:nvSpPr>
          <p:cNvPr id="96" name="s6-eval-body">
            <a:extLst>
              <a:ext uri="{FF2B5EF4-FFF2-40B4-BE49-F238E27FC236}">
                <a16:creationId xmlns:a16="http://schemas.microsoft.com/office/drawing/2014/main" id="{F956E541-300C-4459-9703-4E0A3F462B3B}"/>
              </a:ext>
            </a:extLst>
          </p:cNvPr>
          <p:cNvSpPr>
            <a:spLocks noGrp="1"/>
          </p:cNvSpPr>
          <p:nvPr/>
        </p:nvSpPr>
        <p:spPr>
          <a:xfrm>
            <a:off x="4686300" y="2381250"/>
            <a:ext cx="3333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- Figure-only fact recovery: image vs. text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- Repeatability: 5 image re-reads per label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- Citation accuracy: quiz cites supported slides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- Known weak case reported separately</a:t>
            </a:r>
          </a:p>
        </p:txBody>
      </p:sp>
      <p:pic>
        <p:nvPicPr>
          <p:cNvPr id="108" name="Picture 107"/>
          <p:cNvPicPr>
            <a:picLocks noChangeAspect="1"/>
          </p:cNvPicPr>
          <p:nvPr/>
        </p:nvPicPr>
        <p:blipFill>
          <a:blip r:embed="rId3"/>
          <a:srcRect l="267" r="267"/>
          <a:stretch>
            <a:fillRect/>
          </a:stretch>
        </p:blipFill>
        <p:spPr>
          <a:xfrm>
            <a:off x="2952750" y="3886200"/>
            <a:ext cx="1381125" cy="781050"/>
          </a:xfrm>
          <a:prstGeom prst="roundRect">
            <a:avLst>
              <a:gd name="adj" fmla="val 9756"/>
            </a:avLst>
          </a:prstGeom>
        </p:spPr>
      </p:pic>
      <p:pic>
        <p:nvPicPr>
          <p:cNvPr id="109" name="Picture 108"/>
          <p:cNvPicPr>
            <a:picLocks noChangeAspect="1"/>
          </p:cNvPicPr>
          <p:nvPr/>
        </p:nvPicPr>
        <p:blipFill>
          <a:blip r:embed="rId4"/>
          <a:srcRect l="267" r="267"/>
          <a:stretch>
            <a:fillRect/>
          </a:stretch>
        </p:blipFill>
        <p:spPr>
          <a:xfrm>
            <a:off x="4819650" y="3886200"/>
            <a:ext cx="1381125" cy="781050"/>
          </a:xfrm>
          <a:prstGeom prst="roundRect">
            <a:avLst>
              <a:gd name="adj" fmla="val 9756"/>
            </a:avLst>
          </a:prstGeom>
        </p:spPr>
      </p:pic>
      <p:sp>
        <p:nvSpPr>
          <p:cNvPr id="99" name="s6-pair-arrow">
            <a:extLst>
              <a:ext uri="{FF2B5EF4-FFF2-40B4-BE49-F238E27FC236}">
                <a16:creationId xmlns:a16="http://schemas.microsoft.com/office/drawing/2014/main" id="{54251E96-BBF8-4D1C-9D94-7E504C659C93}"/>
              </a:ext>
            </a:extLst>
          </p:cNvPr>
          <p:cNvSpPr>
            <a:spLocks noGrp="1"/>
          </p:cNvSpPr>
          <p:nvPr/>
        </p:nvSpPr>
        <p:spPr>
          <a:xfrm>
            <a:off x="3752850" y="412432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C47A19"/>
                </a:solidFill>
              </a:defRPr>
            </a:pPr>
            <a:r>
              <a:rPr sz="1125" b="1">
                <a:solidFill>
                  <a:srgbClr val="C47A19"/>
                </a:solidFill>
              </a:rPr>
              <a:t>bridged fact -&gt;</a:t>
            </a:r>
          </a:p>
        </p:txBody>
      </p:sp>
    </p:spTree>
    <p:extLst>
      <p:ext uri="{BB962C8B-B14F-4D97-AF65-F5344CB8AC3E}">
        <p14:creationId xmlns:p14="http://schemas.microsoft.com/office/powerpoint/2010/main" val="896593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>
            <a:extLst>
              <a:ext uri="{FF2B5EF4-FFF2-40B4-BE49-F238E27FC236}">
                <a16:creationId xmlns:a16="http://schemas.microsoft.com/office/drawing/2014/main" id="{526DF875-B60E-458D-B140-E44014984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111827"/>
                </a:solidFill>
              </a:defRPr>
            </a:pPr>
            <a:r>
              <a:rPr sz="1950">
                <a:solidFill>
                  <a:srgbClr val="111827"/>
                </a:solidFill>
              </a:rPr>
              <a:t>Conclusion, lessons learned, and future works</a:t>
            </a:r>
            <a:endParaRPr/>
          </a:p>
        </p:txBody>
      </p:sp>
      <p:sp>
        <p:nvSpPr>
          <p:cNvPr id="96" name="Google Shape;96;p20">
            <a:extLst>
              <a:ext uri="{FF2B5EF4-FFF2-40B4-BE49-F238E27FC236}">
                <a16:creationId xmlns:a16="http://schemas.microsoft.com/office/drawing/2014/main" id="{A13E4E20-E601-4C8D-A271-7684CFD51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050" y="1066800"/>
            <a:ext cx="8286750" cy="47625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59594"/>
          </a:bodyPr>
          <a:lstStyle/>
          <a:p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Main takeaway: treating slides as visual pages makes the study agent more faithful to how course material actually teaches.</a:t>
            </a:r>
            <a:endParaRPr/>
          </a:p>
        </p:txBody>
      </p:sp>
      <p:sp>
        <p:nvSpPr>
          <p:cNvPr id="97" name="s7-col-0">
            <a:extLst>
              <a:ext uri="{FF2B5EF4-FFF2-40B4-BE49-F238E27FC236}">
                <a16:creationId xmlns:a16="http://schemas.microsoft.com/office/drawing/2014/main" id="{03F252D4-600B-44C8-B9B3-A80F5C11AE41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2400300" cy="2000250"/>
          </a:xfrm>
          <a:prstGeom prst="roundRect">
            <a:avLst>
              <a:gd name="adj" fmla="val 3810"/>
            </a:avLst>
          </a:prstGeom>
          <a:solidFill>
            <a:srgbClr val="EEF4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7-col-title-0">
            <a:extLst>
              <a:ext uri="{FF2B5EF4-FFF2-40B4-BE49-F238E27FC236}">
                <a16:creationId xmlns:a16="http://schemas.microsoft.com/office/drawing/2014/main" id="{61145A3F-C2B6-477F-B7C4-3E312E15D7B8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F5EFF"/>
                </a:solidFill>
              </a:defRPr>
            </a:pPr>
            <a:r>
              <a:rPr sz="1350" b="1">
                <a:solidFill>
                  <a:srgbClr val="1F5EFF"/>
                </a:solidFill>
              </a:rPr>
              <a:t>Lessons learned</a:t>
            </a:r>
          </a:p>
        </p:txBody>
      </p:sp>
      <p:sp>
        <p:nvSpPr>
          <p:cNvPr id="99" name="s7-col-body-0">
            <a:extLst>
              <a:ext uri="{FF2B5EF4-FFF2-40B4-BE49-F238E27FC236}">
                <a16:creationId xmlns:a16="http://schemas.microsoft.com/office/drawing/2014/main" id="{0BF0DCA4-C7BD-446E-9BE8-4B2C8B45615D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20383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The schema is the agent's contract</a:t>
            </a:r>
          </a:p>
          <a:p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Visuals need their own evidence field</a:t>
            </a:r>
          </a:p>
          <a:p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Honest degraded states are better than silent failures</a:t>
            </a:r>
          </a:p>
        </p:txBody>
      </p:sp>
      <p:sp>
        <p:nvSpPr>
          <p:cNvPr id="100" name="s7-col-1">
            <a:extLst>
              <a:ext uri="{FF2B5EF4-FFF2-40B4-BE49-F238E27FC236}">
                <a16:creationId xmlns:a16="http://schemas.microsoft.com/office/drawing/2014/main" id="{1E69AD22-DF8A-49FF-8A8F-6ECDCBD0F294}"/>
              </a:ext>
            </a:extLst>
          </p:cNvPr>
          <p:cNvSpPr>
            <a:spLocks noGrp="1"/>
          </p:cNvSpPr>
          <p:nvPr/>
        </p:nvSpPr>
        <p:spPr>
          <a:xfrm>
            <a:off x="3371850" y="1847850"/>
            <a:ext cx="2400300" cy="2000250"/>
          </a:xfrm>
          <a:prstGeom prst="roundRect">
            <a:avLst>
              <a:gd name="adj" fmla="val 3810"/>
            </a:avLst>
          </a:prstGeom>
          <a:solidFill>
            <a:srgbClr val="EAF7F4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7-col-title-1">
            <a:extLst>
              <a:ext uri="{FF2B5EF4-FFF2-40B4-BE49-F238E27FC236}">
                <a16:creationId xmlns:a16="http://schemas.microsoft.com/office/drawing/2014/main" id="{C9F008F9-8EE9-4F33-8C4D-4CB11153BD4C}"/>
              </a:ext>
            </a:extLst>
          </p:cNvPr>
          <p:cNvSpPr>
            <a:spLocks noGrp="1"/>
          </p:cNvSpPr>
          <p:nvPr/>
        </p:nvSpPr>
        <p:spPr>
          <a:xfrm>
            <a:off x="3543300" y="205740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F9D8A"/>
                </a:solidFill>
              </a:defRPr>
            </a:pPr>
            <a:r>
              <a:rPr sz="1350" b="1">
                <a:solidFill>
                  <a:srgbClr val="1F9D8A"/>
                </a:solidFill>
              </a:rPr>
              <a:t>Future work</a:t>
            </a:r>
          </a:p>
        </p:txBody>
      </p:sp>
      <p:sp>
        <p:nvSpPr>
          <p:cNvPr id="102" name="s7-col-body-1">
            <a:extLst>
              <a:ext uri="{FF2B5EF4-FFF2-40B4-BE49-F238E27FC236}">
                <a16:creationId xmlns:a16="http://schemas.microsoft.com/office/drawing/2014/main" id="{1D88A63B-0BF8-4FC5-9746-49B17E4F5BB1}"/>
              </a:ext>
            </a:extLst>
          </p:cNvPr>
          <p:cNvSpPr>
            <a:spLocks noGrp="1"/>
          </p:cNvSpPr>
          <p:nvPr/>
        </p:nvSpPr>
        <p:spPr>
          <a:xfrm>
            <a:off x="3543300" y="2495550"/>
            <a:ext cx="20383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Finish page reader through memory</a:t>
            </a:r>
          </a:p>
          <a:p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Commit one golden run</a:t>
            </a:r>
          </a:p>
          <a:p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Build Streamlit replay for the demo</a:t>
            </a:r>
          </a:p>
          <a:p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Expand labels beyond one course deck</a:t>
            </a:r>
          </a:p>
        </p:txBody>
      </p:sp>
      <p:sp>
        <p:nvSpPr>
          <p:cNvPr id="103" name="s7-col-2">
            <a:extLst>
              <a:ext uri="{FF2B5EF4-FFF2-40B4-BE49-F238E27FC236}">
                <a16:creationId xmlns:a16="http://schemas.microsoft.com/office/drawing/2014/main" id="{96665321-DB71-4C8B-BE08-91585E3AF672}"/>
              </a:ext>
            </a:extLst>
          </p:cNvPr>
          <p:cNvSpPr>
            <a:spLocks noGrp="1"/>
          </p:cNvSpPr>
          <p:nvPr/>
        </p:nvSpPr>
        <p:spPr>
          <a:xfrm>
            <a:off x="6229350" y="1847850"/>
            <a:ext cx="2400300" cy="2000250"/>
          </a:xfrm>
          <a:prstGeom prst="roundRect">
            <a:avLst>
              <a:gd name="adj" fmla="val 3810"/>
            </a:avLst>
          </a:prstGeom>
          <a:solidFill>
            <a:srgbClr val="FFF4E2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7-col-title-2">
            <a:extLst>
              <a:ext uri="{FF2B5EF4-FFF2-40B4-BE49-F238E27FC236}">
                <a16:creationId xmlns:a16="http://schemas.microsoft.com/office/drawing/2014/main" id="{13CFD16D-CD31-4E5C-97D6-0D4D50E0616F}"/>
              </a:ext>
            </a:extLst>
          </p:cNvPr>
          <p:cNvSpPr>
            <a:spLocks noGrp="1"/>
          </p:cNvSpPr>
          <p:nvPr/>
        </p:nvSpPr>
        <p:spPr>
          <a:xfrm>
            <a:off x="6400800" y="205740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C47A19"/>
                </a:solidFill>
              </a:defRPr>
            </a:pPr>
            <a:r>
              <a:rPr sz="1350" b="1">
                <a:solidFill>
                  <a:srgbClr val="C47A19"/>
                </a:solidFill>
              </a:rPr>
              <a:t>Professor-facing claim</a:t>
            </a:r>
          </a:p>
        </p:txBody>
      </p:sp>
      <p:sp>
        <p:nvSpPr>
          <p:cNvPr id="105" name="s7-col-body-2">
            <a:extLst>
              <a:ext uri="{FF2B5EF4-FFF2-40B4-BE49-F238E27FC236}">
                <a16:creationId xmlns:a16="http://schemas.microsoft.com/office/drawing/2014/main" id="{307A4FD2-24FF-4962-9450-FD392A0ABBB5}"/>
              </a:ext>
            </a:extLst>
          </p:cNvPr>
          <p:cNvSpPr>
            <a:spLocks noGrp="1"/>
          </p:cNvSpPr>
          <p:nvPr/>
        </p:nvSpPr>
        <p:spPr>
          <a:xfrm>
            <a:off x="6400800" y="2495550"/>
            <a:ext cx="20383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The project is not just a study tool; it is a controlled test of whether multimodal input changes learning artifacts.</a:t>
            </a:r>
          </a:p>
        </p:txBody>
      </p:sp>
      <p:sp>
        <p:nvSpPr>
          <p:cNvPr id="106" name="s7-close">
            <a:extLst>
              <a:ext uri="{FF2B5EF4-FFF2-40B4-BE49-F238E27FC236}">
                <a16:creationId xmlns:a16="http://schemas.microsoft.com/office/drawing/2014/main" id="{B55BF2C7-ECEC-4737-AF93-FF1BD5EC00F5}"/>
              </a:ext>
            </a:extLst>
          </p:cNvPr>
          <p:cNvSpPr>
            <a:spLocks noGrp="1"/>
          </p:cNvSpPr>
          <p:nvPr/>
        </p:nvSpPr>
        <p:spPr>
          <a:xfrm>
            <a:off x="1333500" y="4210050"/>
            <a:ext cx="647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Next milestone: an end-to-end Day 3 run with image/text comparison artifacts ready to replay.</a:t>
            </a:r>
          </a:p>
        </p:txBody>
      </p:sp>
    </p:spTree>
    <p:extLst>
      <p:ext uri="{BB962C8B-B14F-4D97-AF65-F5344CB8AC3E}">
        <p14:creationId xmlns:p14="http://schemas.microsoft.com/office/powerpoint/2010/main" val="166008203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779</Words>
  <Application>Microsoft Office PowerPoint</Application>
  <DocSecurity>0</DocSecurity>
  <PresentationFormat>On-screen Show (16:9)</PresentationFormat>
  <Paragraphs>115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Slide Deck to Study Guide Agent</vt:lpstr>
      <vt:lpstr>Slide Deck to Study Guide Agent</vt:lpstr>
      <vt:lpstr>Project description and goal</vt:lpstr>
      <vt:lpstr>Why this project matters: slides hide meaning in visuals</vt:lpstr>
      <vt:lpstr>How do we build this application</vt:lpstr>
      <vt:lpstr>Demo and evaluation</vt:lpstr>
      <vt:lpstr>Conclusion, lessons learned, and future works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Johnson Sanya</cp:lastModifiedBy>
  <cp:revision>1</cp:revision>
  <dcterms:created xsi:type="dcterms:W3CDTF">2026-08-21T00:16:32Z</dcterms:created>
  <dcterms:modified xsi:type="dcterms:W3CDTF">2026-08-21T03:00:51Z</dcterms:modified>
</cp:coreProperties>
</file>